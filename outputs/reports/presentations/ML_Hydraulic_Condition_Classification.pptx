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Blocked CV (realistic)</c:v>
                </c:pt>
              </c:strCache>
            </c:strRef>
          </c:tx>
          <c:spPr>
            <a:solidFill>
              <a:srgbClr val="22C55E"/>
            </a:solidFill>
            <a:effectLst/>
          </c:spPr>
          <c:invertIfNegative val="0"/>
          <c:dLbls>
            <c:numFmt formatCode="#,##0" sourceLinked="0"/>
            <c:txPr>
              <a:bodyPr/>
              <a:lstStyle/>
              <a:p>
                <a:pPr>
                  <a:defRPr b="0" i="0" strike="noStrike" sz="1000" u="none">
                    <a:solidFill>
                      <a:srgbClr val="E6EDF7"/>
                    </a:solidFill>
                    <a:latin typeface="Calibri"/>
                  </a:defRPr>
                </a:pPr>
              </a:p>
            </c:txPr>
            <c:showLegendKey val="0"/>
            <c:showVal val="0"/>
            <c:showCatName val="0"/>
            <c:showSerName val="0"/>
            <c:showPercent val="0"/>
            <c:showBubbleSize val="0"/>
            <c:showLeaderLines val="0"/>
          </c:dLbls>
          <c:cat>
            <c:multiLvlStrRef>
              <c:f>Sheet1!$A$2:$A$5</c:f>
              <c:multiLvlStrCache>
                <c:ptCount val="4"/>
                <c:lvl>
                  <c:pt idx="0">
                    <c:v>Cooler</c:v>
                  </c:pt>
                  <c:pt idx="1">
                    <c:v>Valve</c:v>
                  </c:pt>
                  <c:pt idx="2">
                    <c:v>Pump</c:v>
                  </c:pt>
                  <c:pt idx="3">
                    <c:v>Accumulator</c:v>
                  </c:pt>
                </c:lvl>
              </c:multiLvlStrCache>
            </c:multiLvlStrRef>
          </c:cat>
          <c:val>
            <c:numRef>
              <c:f>Sheet1!$B$2:$B$5</c:f>
              <c:numCache>
                <c:formatCode>General</c:formatCode>
                <c:ptCount val="4"/>
                <c:pt idx="0">
                  <c:v>0.995</c:v>
                </c:pt>
                <c:pt idx="1">
                  <c:v>0.984</c:v>
                </c:pt>
                <c:pt idx="2">
                  <c:v>0.968</c:v>
                </c:pt>
                <c:pt idx="3">
                  <c:v>0.916</c:v>
                </c:pt>
              </c:numCache>
            </c:numRef>
          </c:val>
        </c:ser>
        <c:ser>
          <c:idx val="1"/>
          <c:order val="1"/>
          <c:tx>
            <c:strRef>
              <c:f>Sheet1!$C$1</c:f>
              <c:strCache>
                <c:ptCount val="1"/>
                <c:pt idx="0">
                  <c:v>Random CV</c:v>
                </c:pt>
              </c:strCache>
            </c:strRef>
          </c:tx>
          <c:spPr>
            <a:solidFill>
              <a:srgbClr val="3987E5"/>
            </a:solidFill>
            <a:effectLst/>
          </c:spPr>
          <c:invertIfNegative val="0"/>
          <c:dLbls>
            <c:numFmt formatCode="#,##0" sourceLinked="0"/>
            <c:txPr>
              <a:bodyPr/>
              <a:lstStyle/>
              <a:p>
                <a:pPr>
                  <a:defRPr b="0" i="0" strike="noStrike" sz="1000" u="none">
                    <a:solidFill>
                      <a:srgbClr val="E6EDF7"/>
                    </a:solidFill>
                    <a:latin typeface="Calibri"/>
                  </a:defRPr>
                </a:pPr>
              </a:p>
            </c:txPr>
            <c:showLegendKey val="0"/>
            <c:showVal val="0"/>
            <c:showCatName val="0"/>
            <c:showSerName val="0"/>
            <c:showPercent val="0"/>
            <c:showBubbleSize val="0"/>
            <c:showLeaderLines val="0"/>
          </c:dLbls>
          <c:cat>
            <c:multiLvlStrRef>
              <c:f>Sheet1!$A$2:$A$5</c:f>
              <c:multiLvlStrCache>
                <c:ptCount val="4"/>
                <c:lvl>
                  <c:pt idx="0">
                    <c:v>Cooler</c:v>
                  </c:pt>
                  <c:pt idx="1">
                    <c:v>Valve</c:v>
                  </c:pt>
                  <c:pt idx="2">
                    <c:v>Pump</c:v>
                  </c:pt>
                  <c:pt idx="3">
                    <c:v>Accumulator</c:v>
                  </c:pt>
                </c:lvl>
              </c:multiLvlStrCache>
            </c:multiLvlStrRef>
          </c:cat>
          <c:val>
            <c:numRef>
              <c:f>Sheet1!$C$2:$C$5</c:f>
              <c:numCache>
                <c:formatCode>General</c:formatCode>
                <c:ptCount val="4"/>
                <c:pt idx="0">
                  <c:v>0.998</c:v>
                </c:pt>
                <c:pt idx="1">
                  <c:v>0.995</c:v>
                </c:pt>
                <c:pt idx="2">
                  <c:v>0.995</c:v>
                </c:pt>
                <c:pt idx="3">
                  <c:v>0.992</c:v>
                </c:pt>
              </c:numCache>
            </c:numRef>
          </c:val>
        </c:ser>
        <c:ser>
          <c:idx val="2"/>
          <c:order val="2"/>
          <c:tx>
            <c:strRef>
              <c:f>Sheet1!$D$1</c:f>
              <c:strCache>
                <c:ptCount val="1"/>
                <c:pt idx="0">
                  <c:v>Test (random split)</c:v>
                </c:pt>
              </c:strCache>
            </c:strRef>
          </c:tx>
          <c:spPr>
            <a:solidFill>
              <a:srgbClr val="818CF8"/>
            </a:solidFill>
            <a:effectLst/>
          </c:spPr>
          <c:invertIfNegative val="0"/>
          <c:dLbls>
            <c:numFmt formatCode="#,##0" sourceLinked="0"/>
            <c:txPr>
              <a:bodyPr/>
              <a:lstStyle/>
              <a:p>
                <a:pPr>
                  <a:defRPr b="0" i="0" strike="noStrike" sz="1000" u="none">
                    <a:solidFill>
                      <a:srgbClr val="E6EDF7"/>
                    </a:solidFill>
                    <a:latin typeface="Calibri"/>
                  </a:defRPr>
                </a:pPr>
              </a:p>
            </c:txPr>
            <c:showLegendKey val="0"/>
            <c:showVal val="0"/>
            <c:showCatName val="0"/>
            <c:showSerName val="0"/>
            <c:showPercent val="0"/>
            <c:showBubbleSize val="0"/>
            <c:showLeaderLines val="0"/>
          </c:dLbls>
          <c:cat>
            <c:multiLvlStrRef>
              <c:f>Sheet1!$A$2:$A$5</c:f>
              <c:multiLvlStrCache>
                <c:ptCount val="4"/>
                <c:lvl>
                  <c:pt idx="0">
                    <c:v>Cooler</c:v>
                  </c:pt>
                  <c:pt idx="1">
                    <c:v>Valve</c:v>
                  </c:pt>
                  <c:pt idx="2">
                    <c:v>Pump</c:v>
                  </c:pt>
                  <c:pt idx="3">
                    <c:v>Accumulator</c:v>
                  </c:pt>
                </c:lvl>
              </c:multiLvlStrCache>
            </c:multiLvlStrRef>
          </c:cat>
          <c:val>
            <c:numRef>
              <c:f>Sheet1!$D$2:$D$5</c:f>
              <c:numCache>
                <c:formatCode>General</c:formatCode>
                <c:ptCount val="4"/>
                <c:pt idx="0">
                  <c:v>1</c:v>
                </c:pt>
                <c:pt idx="1">
                  <c:v>1</c:v>
                </c:pt>
                <c:pt idx="2">
                  <c:v>1</c:v>
                </c:pt>
                <c:pt idx="3">
                  <c:v>0.988</c:v>
                </c:pt>
              </c:numCache>
            </c:numRef>
          </c:val>
        </c:ser>
        <c:dLbls>
          <c:numFmt formatCode="#,##0" sourceLinked="0"/>
          <c:txPr>
            <a:bodyPr/>
            <a:lstStyle/>
            <a:p>
              <a:pPr>
                <a:defRPr b="0" i="0" strike="noStrike" sz="1000" u="none">
                  <a:solidFill>
                    <a:srgbClr val="E6EDF7"/>
                  </a:solidFill>
                  <a:latin typeface="Calibri"/>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4A3B8"/>
                </a:solidFill>
                <a:latin typeface="Calibri"/>
              </a:defRPr>
            </a:pPr>
            <a:endParaRPr lang="en-US"/>
          </a:p>
        </c:txPr>
        <c:crossAx val="2094734552"/>
        <c:crosses val="autoZero"/>
        <c:auto val="1"/>
        <c:lblAlgn val="ctr"/>
        <c:noMultiLvlLbl val="1"/>
      </c:catAx>
      <c:valAx>
        <c:axId val="2094734552"/>
        <c:scaling>
          <c:orientation val="minMax"/>
          <c:max val="1"/>
          <c:min val="0.88"/>
        </c:scaling>
        <c:delete val="0"/>
        <c:axPos val="l"/>
        <c:majorGridlines>
          <c:spPr>
            <a:ln w="6350" cap="flat">
              <a:solidFill>
                <a:srgbClr val="2A3754"/>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Calibri"/>
              </a:defRPr>
            </a:pPr>
            <a:endParaRPr lang="en-US"/>
          </a:p>
        </c:txPr>
        <c:crossAx val="2094734554"/>
        <c:crosses val="autoZero"/>
        <c:crossBetween val="between"/>
        <c:majorUnit val="0.02"/>
      </c:valAx>
      <c:spPr>
        <a:solidFill>
          <a:srgbClr val="152033"/>
        </a:solidFill>
        <a:ln>
          <a:noFill/>
        </a:ln>
        <a:effectLst/>
      </c:spPr>
    </c:plotArea>
    <c:legend>
      <c:legendPos val="t"/>
      <c:overlay val="0"/>
      <c:txPr>
        <a:bodyPr/>
        <a:lstStyle/>
        <a:p>
          <a:pPr>
            <a:defRPr sz="1100">
              <a:solidFill>
                <a:srgbClr val="E6EDF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ML side of the project: four supervised multiclass problems on the UCI hydraulic dataset, a controlled comparison of four classifier families, and an evaluation that goes beyond a random train/test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task. Each component is its own classification problem. Point out the imbalance ratios and why macro-F1, which weights every class equally, is the right headline metric rather than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protocol step by step. Stress that the test set was used only once, after selection, and that class weights are computed inside each training fold. The blocked CV is the extra honesty check that most papers on this dataset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heatmap row by row. Winners: cooler XGBoost on 17 means, valve random forest on 40 selected, pump XGBoost on 40 selected, accumulator random forest on all 553. Mention that differences below about 0.002 are within fold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the viva. Perfect test scores are an upper bound because the test set was drawn randomly and shares near-duplicate neighbours with training. Blocked CV is the realistic estimate. The accumulator is clearly the hardest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test errors are between the two lowest accumulator pre-charge levels, which produce very similar pressure transients. Then explain importance: each top feature has a physical reason. For the accumulator, 553 correlated inputs spread the importance thinly, so permutation importance looks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ML Studio if possible: score cycle 499 to show the low-confidence accumulator error, then open Error analysis. Close with the three conclusions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502920"/>
            <a:ext cx="5120640" cy="274320"/>
          </a:xfrm>
          <a:prstGeom prst="rect">
            <a:avLst/>
          </a:prstGeom>
          <a:noFill/>
          <a:ln/>
        </p:spPr>
        <p:txBody>
          <a:bodyPr wrap="square" lIns="0" tIns="0" rIns="0" bIns="0" rtlCol="0" anchor="ctr"/>
          <a:lstStyle/>
          <a:p>
            <a:pPr indent="0" marL="0">
              <a:buNone/>
            </a:pPr>
            <a:r>
              <a:rPr lang="en-US" sz="1100" b="1" spc="300" kern="0" dirty="0">
                <a:solidFill>
                  <a:srgbClr val="818CF8"/>
                </a:solidFill>
                <a:latin typeface="Calibri" pitchFamily="34" charset="0"/>
                <a:ea typeface="Calibri" pitchFamily="34" charset="-122"/>
                <a:cs typeface="Calibri" pitchFamily="34" charset="-120"/>
              </a:rPr>
              <a:t>MACHINE LEARNING · MODEL EVALUATION</a:t>
            </a:r>
            <a:endParaRPr lang="en-US" sz="1100" dirty="0"/>
          </a:p>
        </p:txBody>
      </p:sp>
      <p:sp>
        <p:nvSpPr>
          <p:cNvPr id="3" name="Text 1"/>
          <p:cNvSpPr txBox="1"/>
          <p:nvPr/>
        </p:nvSpPr>
        <p:spPr>
          <a:xfrm>
            <a:off x="457200" y="822960"/>
            <a:ext cx="5120640" cy="1737360"/>
          </a:xfrm>
          <a:prstGeom prst="rect">
            <a:avLst/>
          </a:prstGeom>
          <a:noFill/>
          <a:ln/>
        </p:spPr>
        <p:txBody>
          <a:bodyPr wrap="square" lIns="0" tIns="0" rIns="0" bIns="0" rtlCol="0" anchor="t"/>
          <a:lstStyle/>
          <a:p>
            <a:pPr indent="0" marL="0">
              <a:buNone/>
            </a:pPr>
            <a:r>
              <a:rPr lang="en-US" sz="3000" b="1" dirty="0">
                <a:solidFill>
                  <a:srgbClr val="E6EDF7"/>
                </a:solidFill>
                <a:latin typeface="Cambria" pitchFamily="34" charset="0"/>
                <a:ea typeface="Cambria" pitchFamily="34" charset="-122"/>
                <a:cs typeface="Cambria" pitchFamily="34" charset="-120"/>
              </a:rPr>
              <a:t>Supervised ML for Multi-Component Condition Classification</a:t>
            </a:r>
            <a:endParaRPr lang="en-US" sz="3000" dirty="0"/>
          </a:p>
        </p:txBody>
      </p:sp>
      <p:sp>
        <p:nvSpPr>
          <p:cNvPr id="4" name="Text 2"/>
          <p:cNvSpPr txBox="1"/>
          <p:nvPr/>
        </p:nvSpPr>
        <p:spPr>
          <a:xfrm>
            <a:off x="457200" y="2240280"/>
            <a:ext cx="4937760" cy="45720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Four classifiers, 48 configurations, and an honest look at generalisation</a:t>
            </a:r>
            <a:endParaRPr lang="en-US" sz="1300" dirty="0"/>
          </a:p>
        </p:txBody>
      </p:sp>
      <p:sp>
        <p:nvSpPr>
          <p:cNvPr id="5" name="Text 3"/>
          <p:cNvSpPr txBox="1"/>
          <p:nvPr/>
        </p:nvSpPr>
        <p:spPr>
          <a:xfrm>
            <a:off x="457200" y="2971800"/>
            <a:ext cx="3840480" cy="1097280"/>
          </a:xfrm>
          <a:prstGeom prst="rect">
            <a:avLst/>
          </a:prstGeom>
          <a:noFill/>
          <a:ln/>
        </p:spPr>
        <p:txBody>
          <a:bodyPr wrap="square" lIns="0" tIns="0" rIns="0" bIns="0" rtlCol="0" anchor="ctr"/>
          <a:lstStyle/>
          <a:p>
            <a:pPr indent="0" marL="0">
              <a:buNone/>
            </a:pPr>
            <a:r>
              <a:rPr lang="en-US" sz="1300" dirty="0">
                <a:solidFill>
                  <a:srgbClr val="E6EDF7"/>
                </a:solidFill>
                <a:latin typeface="Calibri" pitchFamily="34" charset="0"/>
                <a:ea typeface="Calibri" pitchFamily="34" charset="-122"/>
                <a:cs typeface="Calibri" pitchFamily="34" charset="-120"/>
              </a:rPr>
              <a:t>Sahil Khan Pathan  ·  24AD1199</a:t>
            </a:r>
            <a:endParaRPr lang="en-US" sz="1300" dirty="0"/>
          </a:p>
          <a:p>
            <a:pPr indent="0" marL="0">
              <a:buNone/>
            </a:pPr>
            <a:r>
              <a:rPr lang="en-US" sz="1300" dirty="0">
                <a:solidFill>
                  <a:srgbClr val="E6EDF7"/>
                </a:solidFill>
                <a:latin typeface="Calibri" pitchFamily="34" charset="0"/>
                <a:ea typeface="Calibri" pitchFamily="34" charset="-122"/>
                <a:cs typeface="Calibri" pitchFamily="34" charset="-120"/>
              </a:rPr>
              <a:t>Vedant Mali  ·  24AD1145</a:t>
            </a:r>
            <a:endParaRPr lang="en-US" sz="1300" dirty="0"/>
          </a:p>
          <a:p>
            <a:pPr indent="0" marL="0">
              <a:buNone/>
            </a:pPr>
            <a:r>
              <a:rPr lang="en-US" sz="1300" dirty="0">
                <a:solidFill>
                  <a:srgbClr val="E6EDF7"/>
                </a:solidFill>
                <a:latin typeface="Calibri" pitchFamily="34" charset="0"/>
                <a:ea typeface="Calibri" pitchFamily="34" charset="-122"/>
                <a:cs typeface="Calibri" pitchFamily="34" charset="-120"/>
              </a:rPr>
              <a:t>Sejal Zende  ·  24AD1158</a:t>
            </a:r>
            <a:endParaRPr lang="en-US" sz="1300" dirty="0"/>
          </a:p>
          <a:p>
            <a:pPr indent="0" marL="0">
              <a:buNone/>
            </a:pPr>
            <a:r>
              <a:rPr lang="en-US" sz="1300" dirty="0">
                <a:solidFill>
                  <a:srgbClr val="E6EDF7"/>
                </a:solidFill>
                <a:latin typeface="Calibri" pitchFamily="34" charset="0"/>
                <a:ea typeface="Calibri" pitchFamily="34" charset="-122"/>
                <a:cs typeface="Calibri" pitchFamily="34" charset="-120"/>
              </a:rPr>
              <a:t>Vedika Singh  ·  24AD1147</a:t>
            </a:r>
            <a:endParaRPr lang="en-US" sz="1300" dirty="0"/>
          </a:p>
        </p:txBody>
      </p:sp>
      <p:sp>
        <p:nvSpPr>
          <p:cNvPr id="6" name="Text 4"/>
          <p:cNvSpPr txBox="1"/>
          <p:nvPr/>
        </p:nvSpPr>
        <p:spPr>
          <a:xfrm>
            <a:off x="457200" y="4315968"/>
            <a:ext cx="5120640" cy="4572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Guide: Prof. ____________________</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Dept. of AI &amp; Data Science Engineering, DY Patil University, Navi Mumbai</a:t>
            </a:r>
            <a:endParaRPr lang="en-US" sz="1050" dirty="0"/>
          </a:p>
        </p:txBody>
      </p:sp>
      <p:sp>
        <p:nvSpPr>
          <p:cNvPr id="7" name="Shape 5"/>
          <p:cNvSpPr/>
          <p:nvPr/>
        </p:nvSpPr>
        <p:spPr>
          <a:xfrm>
            <a:off x="5751576" y="676656"/>
            <a:ext cx="2990088" cy="1825421"/>
          </a:xfrm>
          <a:prstGeom prst="roundRect">
            <a:avLst>
              <a:gd name="adj" fmla="val 3006"/>
            </a:avLst>
          </a:prstGeom>
          <a:solidFill>
            <a:srgbClr val="152033"/>
          </a:solidFill>
          <a:ln w="9525">
            <a:solidFill>
              <a:srgbClr val="2A3754"/>
            </a:solidFill>
            <a:prstDash val="solid"/>
          </a:ln>
        </p:spPr>
      </p:sp>
      <p:pic>
        <p:nvPicPr>
          <p:cNvPr id="8" name="Image 0" descr="img/ml_predict.png">    </p:cNvPr>
          <p:cNvPicPr>
            <a:picLocks noChangeAspect="1"/>
          </p:cNvPicPr>
          <p:nvPr/>
        </p:nvPicPr>
        <p:blipFill>
          <a:blip r:embed="rId1"/>
          <a:stretch>
            <a:fillRect/>
          </a:stretch>
        </p:blipFill>
        <p:spPr>
          <a:xfrm>
            <a:off x="5806440" y="731520"/>
            <a:ext cx="2880360" cy="1715693"/>
          </a:xfrm>
          <a:prstGeom prst="rect">
            <a:avLst/>
          </a:prstGeom>
        </p:spPr>
      </p:pic>
      <p:sp>
        <p:nvSpPr>
          <p:cNvPr id="9" name="Text 6"/>
          <p:cNvSpPr txBox="1"/>
          <p:nvPr/>
        </p:nvSpPr>
        <p:spPr>
          <a:xfrm>
            <a:off x="5751576" y="2542032"/>
            <a:ext cx="2990088" cy="41148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ML Studio: live prediction with confidence, margin and entropy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E6EDF7"/>
                </a:solidFill>
                <a:latin typeface="Cambria" pitchFamily="34" charset="0"/>
                <a:ea typeface="Cambria" pitchFamily="34" charset="-122"/>
                <a:cs typeface="Cambria" pitchFamily="34" charset="-120"/>
              </a:rPr>
              <a:t>Four independent multiclass problems</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818CF8"/>
                </a:solidFill>
                <a:latin typeface="Calibri" pitchFamily="34" charset="0"/>
                <a:ea typeface="Calibri" pitchFamily="34" charset="-122"/>
                <a:cs typeface="Calibri" pitchFamily="34" charset="-120"/>
              </a:rPr>
              <a:t>One classifier per component · 2,205 labelled cycles · macro-F1 as the headline metric</a:t>
            </a:r>
            <a:endParaRPr lang="en-US" sz="1300" dirty="0"/>
          </a:p>
        </p:txBody>
      </p:sp>
      <p:sp>
        <p:nvSpPr>
          <p:cNvPr id="4" name="Shape 2"/>
          <p:cNvSpPr/>
          <p:nvPr/>
        </p:nvSpPr>
        <p:spPr>
          <a:xfrm>
            <a:off x="457200" y="1325880"/>
            <a:ext cx="1938528" cy="2103120"/>
          </a:xfrm>
          <a:prstGeom prst="roundRect">
            <a:avLst>
              <a:gd name="adj" fmla="val 3774"/>
            </a:avLst>
          </a:prstGeom>
          <a:solidFill>
            <a:srgbClr val="152033"/>
          </a:solidFill>
          <a:ln w="9525">
            <a:solidFill>
              <a:srgbClr val="2A3754"/>
            </a:solidFill>
            <a:prstDash val="solid"/>
          </a:ln>
        </p:spPr>
      </p:sp>
      <p:sp>
        <p:nvSpPr>
          <p:cNvPr id="5" name="Shape 3"/>
          <p:cNvSpPr/>
          <p:nvPr/>
        </p:nvSpPr>
        <p:spPr>
          <a:xfrm>
            <a:off x="640080" y="1508760"/>
            <a:ext cx="512064" cy="512064"/>
          </a:xfrm>
          <a:prstGeom prst="ellipse">
            <a:avLst/>
          </a:prstGeom>
          <a:solidFill>
            <a:srgbClr val="818CF8">
              <a:alpha val="22000"/>
            </a:srgbClr>
          </a:solidFill>
          <a:ln w="12700">
            <a:solidFill>
              <a:srgbClr val="818CF8"/>
            </a:solidFill>
            <a:prstDash val="solid"/>
          </a:ln>
        </p:spPr>
      </p:sp>
      <p:pic>
        <p:nvPicPr>
          <p:cNvPr id="6" name="Image 0" descr="preencoded.png">    </p:cNvPr>
          <p:cNvPicPr>
            <a:picLocks noChangeAspect="1"/>
          </p:cNvPicPr>
          <p:nvPr/>
        </p:nvPicPr>
        <p:blipFill>
          <a:blip r:embed="rId1"/>
          <a:stretch>
            <a:fillRect/>
          </a:stretch>
        </p:blipFill>
        <p:spPr>
          <a:xfrm>
            <a:off x="768096" y="1636776"/>
            <a:ext cx="256032" cy="256032"/>
          </a:xfrm>
          <a:prstGeom prst="rect">
            <a:avLst/>
          </a:prstGeom>
        </p:spPr>
      </p:pic>
      <p:sp>
        <p:nvSpPr>
          <p:cNvPr id="7" name="Text 4"/>
          <p:cNvSpPr txBox="1"/>
          <p:nvPr/>
        </p:nvSpPr>
        <p:spPr>
          <a:xfrm>
            <a:off x="640080" y="2121408"/>
            <a:ext cx="1645920" cy="310896"/>
          </a:xfrm>
          <a:prstGeom prst="rect">
            <a:avLst/>
          </a:prstGeom>
          <a:noFill/>
          <a:ln/>
        </p:spPr>
        <p:txBody>
          <a:bodyPr wrap="square" lIns="0" tIns="0" rIns="0" bIns="0" rtlCol="0" anchor="ctr"/>
          <a:lstStyle/>
          <a:p>
            <a:pPr indent="0" marL="0">
              <a:buNone/>
            </a:pPr>
            <a:r>
              <a:rPr lang="en-US" sz="1500" b="1" dirty="0">
                <a:solidFill>
                  <a:srgbClr val="E6EDF7"/>
                </a:solidFill>
                <a:latin typeface="Calibri" pitchFamily="34" charset="0"/>
                <a:ea typeface="Calibri" pitchFamily="34" charset="-122"/>
                <a:cs typeface="Calibri" pitchFamily="34" charset="-120"/>
              </a:rPr>
              <a:t>Cooler</a:t>
            </a:r>
            <a:endParaRPr lang="en-US" sz="1500" dirty="0"/>
          </a:p>
        </p:txBody>
      </p:sp>
      <p:sp>
        <p:nvSpPr>
          <p:cNvPr id="8" name="Text 5"/>
          <p:cNvSpPr txBox="1"/>
          <p:nvPr/>
        </p:nvSpPr>
        <p:spPr>
          <a:xfrm>
            <a:off x="640080" y="2450592"/>
            <a:ext cx="169164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3 classes</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3 / 20 / 100 %</a:t>
            </a:r>
            <a:endParaRPr lang="en-US" sz="1100" dirty="0"/>
          </a:p>
        </p:txBody>
      </p:sp>
      <p:sp>
        <p:nvSpPr>
          <p:cNvPr id="9" name="Text 6"/>
          <p:cNvSpPr txBox="1"/>
          <p:nvPr/>
        </p:nvSpPr>
        <p:spPr>
          <a:xfrm>
            <a:off x="640080" y="3017520"/>
            <a:ext cx="164592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imbalance </a:t>
            </a:r>
            <a:pPr indent="0" marL="0">
              <a:buNone/>
            </a:pPr>
            <a:r>
              <a:rPr lang="en-US" sz="1150" b="1" dirty="0">
                <a:solidFill>
                  <a:srgbClr val="22C55E"/>
                </a:solidFill>
                <a:latin typeface="Calibri" pitchFamily="34" charset="0"/>
                <a:ea typeface="Calibri" pitchFamily="34" charset="-122"/>
                <a:cs typeface="Calibri" pitchFamily="34" charset="-120"/>
              </a:rPr>
              <a:t>1.01</a:t>
            </a:r>
            <a:endParaRPr lang="en-US" sz="1150" dirty="0"/>
          </a:p>
        </p:txBody>
      </p:sp>
      <p:sp>
        <p:nvSpPr>
          <p:cNvPr id="10" name="Shape 7"/>
          <p:cNvSpPr/>
          <p:nvPr/>
        </p:nvSpPr>
        <p:spPr>
          <a:xfrm>
            <a:off x="2542032" y="1325880"/>
            <a:ext cx="1938528" cy="2103120"/>
          </a:xfrm>
          <a:prstGeom prst="roundRect">
            <a:avLst>
              <a:gd name="adj" fmla="val 3774"/>
            </a:avLst>
          </a:prstGeom>
          <a:solidFill>
            <a:srgbClr val="152033"/>
          </a:solidFill>
          <a:ln w="9525">
            <a:solidFill>
              <a:srgbClr val="2A3754"/>
            </a:solidFill>
            <a:prstDash val="solid"/>
          </a:ln>
        </p:spPr>
      </p:sp>
      <p:sp>
        <p:nvSpPr>
          <p:cNvPr id="11" name="Shape 8"/>
          <p:cNvSpPr/>
          <p:nvPr/>
        </p:nvSpPr>
        <p:spPr>
          <a:xfrm>
            <a:off x="2724912" y="1508760"/>
            <a:ext cx="512064" cy="512064"/>
          </a:xfrm>
          <a:prstGeom prst="ellipse">
            <a:avLst/>
          </a:prstGeom>
          <a:solidFill>
            <a:srgbClr val="818CF8">
              <a:alpha val="22000"/>
            </a:srgbClr>
          </a:solidFill>
          <a:ln w="12700">
            <a:solidFill>
              <a:srgbClr val="818CF8"/>
            </a:solidFill>
            <a:prstDash val="solid"/>
          </a:ln>
        </p:spPr>
      </p:sp>
      <p:pic>
        <p:nvPicPr>
          <p:cNvPr id="12" name="Image 1" descr="preencoded.png">    </p:cNvPr>
          <p:cNvPicPr>
            <a:picLocks noChangeAspect="1"/>
          </p:cNvPicPr>
          <p:nvPr/>
        </p:nvPicPr>
        <p:blipFill>
          <a:blip r:embed="rId2"/>
          <a:stretch>
            <a:fillRect/>
          </a:stretch>
        </p:blipFill>
        <p:spPr>
          <a:xfrm>
            <a:off x="2852928" y="1636776"/>
            <a:ext cx="256032" cy="256032"/>
          </a:xfrm>
          <a:prstGeom prst="rect">
            <a:avLst/>
          </a:prstGeom>
        </p:spPr>
      </p:pic>
      <p:sp>
        <p:nvSpPr>
          <p:cNvPr id="13" name="Text 9"/>
          <p:cNvSpPr txBox="1"/>
          <p:nvPr/>
        </p:nvSpPr>
        <p:spPr>
          <a:xfrm>
            <a:off x="2724912" y="2121408"/>
            <a:ext cx="1645920" cy="310896"/>
          </a:xfrm>
          <a:prstGeom prst="rect">
            <a:avLst/>
          </a:prstGeom>
          <a:noFill/>
          <a:ln/>
        </p:spPr>
        <p:txBody>
          <a:bodyPr wrap="square" lIns="0" tIns="0" rIns="0" bIns="0" rtlCol="0" anchor="ctr"/>
          <a:lstStyle/>
          <a:p>
            <a:pPr indent="0" marL="0">
              <a:buNone/>
            </a:pPr>
            <a:r>
              <a:rPr lang="en-US" sz="1500" b="1" dirty="0">
                <a:solidFill>
                  <a:srgbClr val="E6EDF7"/>
                </a:solidFill>
                <a:latin typeface="Calibri" pitchFamily="34" charset="0"/>
                <a:ea typeface="Calibri" pitchFamily="34" charset="-122"/>
                <a:cs typeface="Calibri" pitchFamily="34" charset="-120"/>
              </a:rPr>
              <a:t>Valve</a:t>
            </a:r>
            <a:endParaRPr lang="en-US" sz="1500" dirty="0"/>
          </a:p>
        </p:txBody>
      </p:sp>
      <p:sp>
        <p:nvSpPr>
          <p:cNvPr id="14" name="Text 10"/>
          <p:cNvSpPr txBox="1"/>
          <p:nvPr/>
        </p:nvSpPr>
        <p:spPr>
          <a:xfrm>
            <a:off x="2724912" y="2450592"/>
            <a:ext cx="169164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4 classes</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73 / 80 / 90 / 100 %</a:t>
            </a:r>
            <a:endParaRPr lang="en-US" sz="1100" dirty="0"/>
          </a:p>
        </p:txBody>
      </p:sp>
      <p:sp>
        <p:nvSpPr>
          <p:cNvPr id="15" name="Text 11"/>
          <p:cNvSpPr txBox="1"/>
          <p:nvPr/>
        </p:nvSpPr>
        <p:spPr>
          <a:xfrm>
            <a:off x="2724912" y="3017520"/>
            <a:ext cx="164592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imbalance </a:t>
            </a:r>
            <a:pPr indent="0" marL="0">
              <a:buNone/>
            </a:pPr>
            <a:r>
              <a:rPr lang="en-US" sz="1150" b="1" dirty="0">
                <a:solidFill>
                  <a:srgbClr val="F59E0B"/>
                </a:solidFill>
                <a:latin typeface="Calibri" pitchFamily="34" charset="0"/>
                <a:ea typeface="Calibri" pitchFamily="34" charset="-122"/>
                <a:cs typeface="Calibri" pitchFamily="34" charset="-120"/>
              </a:rPr>
              <a:t>3.13</a:t>
            </a:r>
            <a:endParaRPr lang="en-US" sz="1150" dirty="0"/>
          </a:p>
        </p:txBody>
      </p:sp>
      <p:sp>
        <p:nvSpPr>
          <p:cNvPr id="16" name="Shape 12"/>
          <p:cNvSpPr/>
          <p:nvPr/>
        </p:nvSpPr>
        <p:spPr>
          <a:xfrm>
            <a:off x="4626864" y="1325880"/>
            <a:ext cx="1938528" cy="2103120"/>
          </a:xfrm>
          <a:prstGeom prst="roundRect">
            <a:avLst>
              <a:gd name="adj" fmla="val 3774"/>
            </a:avLst>
          </a:prstGeom>
          <a:solidFill>
            <a:srgbClr val="152033"/>
          </a:solidFill>
          <a:ln w="9525">
            <a:solidFill>
              <a:srgbClr val="2A3754"/>
            </a:solidFill>
            <a:prstDash val="solid"/>
          </a:ln>
        </p:spPr>
      </p:sp>
      <p:sp>
        <p:nvSpPr>
          <p:cNvPr id="17" name="Shape 13"/>
          <p:cNvSpPr/>
          <p:nvPr/>
        </p:nvSpPr>
        <p:spPr>
          <a:xfrm>
            <a:off x="4809744" y="1508760"/>
            <a:ext cx="512064" cy="512064"/>
          </a:xfrm>
          <a:prstGeom prst="ellipse">
            <a:avLst/>
          </a:prstGeom>
          <a:solidFill>
            <a:srgbClr val="818CF8">
              <a:alpha val="22000"/>
            </a:srgbClr>
          </a:solidFill>
          <a:ln w="12700">
            <a:solidFill>
              <a:srgbClr val="818CF8"/>
            </a:solidFill>
            <a:prstDash val="solid"/>
          </a:ln>
        </p:spPr>
      </p:sp>
      <p:pic>
        <p:nvPicPr>
          <p:cNvPr id="18" name="Image 2" descr="preencoded.png">    </p:cNvPr>
          <p:cNvPicPr>
            <a:picLocks noChangeAspect="1"/>
          </p:cNvPicPr>
          <p:nvPr/>
        </p:nvPicPr>
        <p:blipFill>
          <a:blip r:embed="rId3"/>
          <a:stretch>
            <a:fillRect/>
          </a:stretch>
        </p:blipFill>
        <p:spPr>
          <a:xfrm>
            <a:off x="4937760" y="1636776"/>
            <a:ext cx="256032" cy="256032"/>
          </a:xfrm>
          <a:prstGeom prst="rect">
            <a:avLst/>
          </a:prstGeom>
        </p:spPr>
      </p:pic>
      <p:sp>
        <p:nvSpPr>
          <p:cNvPr id="19" name="Text 14"/>
          <p:cNvSpPr txBox="1"/>
          <p:nvPr/>
        </p:nvSpPr>
        <p:spPr>
          <a:xfrm>
            <a:off x="4809744" y="2121408"/>
            <a:ext cx="1645920" cy="310896"/>
          </a:xfrm>
          <a:prstGeom prst="rect">
            <a:avLst/>
          </a:prstGeom>
          <a:noFill/>
          <a:ln/>
        </p:spPr>
        <p:txBody>
          <a:bodyPr wrap="square" lIns="0" tIns="0" rIns="0" bIns="0" rtlCol="0" anchor="ctr"/>
          <a:lstStyle/>
          <a:p>
            <a:pPr indent="0" marL="0">
              <a:buNone/>
            </a:pPr>
            <a:r>
              <a:rPr lang="en-US" sz="1500" b="1" dirty="0">
                <a:solidFill>
                  <a:srgbClr val="E6EDF7"/>
                </a:solidFill>
                <a:latin typeface="Calibri" pitchFamily="34" charset="0"/>
                <a:ea typeface="Calibri" pitchFamily="34" charset="-122"/>
                <a:cs typeface="Calibri" pitchFamily="34" charset="-120"/>
              </a:rPr>
              <a:t>Pump leakage</a:t>
            </a:r>
            <a:endParaRPr lang="en-US" sz="1500" dirty="0"/>
          </a:p>
        </p:txBody>
      </p:sp>
      <p:sp>
        <p:nvSpPr>
          <p:cNvPr id="20" name="Text 15"/>
          <p:cNvSpPr txBox="1"/>
          <p:nvPr/>
        </p:nvSpPr>
        <p:spPr>
          <a:xfrm>
            <a:off x="4809744" y="2450592"/>
            <a:ext cx="169164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3 classes</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none / weak / severe</a:t>
            </a:r>
            <a:endParaRPr lang="en-US" sz="1100" dirty="0"/>
          </a:p>
        </p:txBody>
      </p:sp>
      <p:sp>
        <p:nvSpPr>
          <p:cNvPr id="21" name="Text 16"/>
          <p:cNvSpPr txBox="1"/>
          <p:nvPr/>
        </p:nvSpPr>
        <p:spPr>
          <a:xfrm>
            <a:off x="4809744" y="3017520"/>
            <a:ext cx="164592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imbalance </a:t>
            </a:r>
            <a:pPr indent="0" marL="0">
              <a:buNone/>
            </a:pPr>
            <a:r>
              <a:rPr lang="en-US" sz="1150" b="1" dirty="0">
                <a:solidFill>
                  <a:srgbClr val="F59E0B"/>
                </a:solidFill>
                <a:latin typeface="Calibri" pitchFamily="34" charset="0"/>
                <a:ea typeface="Calibri" pitchFamily="34" charset="-122"/>
                <a:cs typeface="Calibri" pitchFamily="34" charset="-120"/>
              </a:rPr>
              <a:t>2.48</a:t>
            </a:r>
            <a:endParaRPr lang="en-US" sz="1150" dirty="0"/>
          </a:p>
        </p:txBody>
      </p:sp>
      <p:sp>
        <p:nvSpPr>
          <p:cNvPr id="22" name="Shape 17"/>
          <p:cNvSpPr/>
          <p:nvPr/>
        </p:nvSpPr>
        <p:spPr>
          <a:xfrm>
            <a:off x="6711696" y="1325880"/>
            <a:ext cx="1938528" cy="2103120"/>
          </a:xfrm>
          <a:prstGeom prst="roundRect">
            <a:avLst>
              <a:gd name="adj" fmla="val 3774"/>
            </a:avLst>
          </a:prstGeom>
          <a:solidFill>
            <a:srgbClr val="152033"/>
          </a:solidFill>
          <a:ln w="9525">
            <a:solidFill>
              <a:srgbClr val="2A3754"/>
            </a:solidFill>
            <a:prstDash val="solid"/>
          </a:ln>
        </p:spPr>
      </p:sp>
      <p:sp>
        <p:nvSpPr>
          <p:cNvPr id="23" name="Shape 18"/>
          <p:cNvSpPr/>
          <p:nvPr/>
        </p:nvSpPr>
        <p:spPr>
          <a:xfrm>
            <a:off x="6894576" y="1508760"/>
            <a:ext cx="512064" cy="512064"/>
          </a:xfrm>
          <a:prstGeom prst="ellipse">
            <a:avLst/>
          </a:prstGeom>
          <a:solidFill>
            <a:srgbClr val="818CF8">
              <a:alpha val="22000"/>
            </a:srgbClr>
          </a:solidFill>
          <a:ln w="12700">
            <a:solidFill>
              <a:srgbClr val="818CF8"/>
            </a:solidFill>
            <a:prstDash val="solid"/>
          </a:ln>
        </p:spPr>
      </p:sp>
      <p:pic>
        <p:nvPicPr>
          <p:cNvPr id="24" name="Image 3" descr="preencoded.png">    </p:cNvPr>
          <p:cNvPicPr>
            <a:picLocks noChangeAspect="1"/>
          </p:cNvPicPr>
          <p:nvPr/>
        </p:nvPicPr>
        <p:blipFill>
          <a:blip r:embed="rId4"/>
          <a:stretch>
            <a:fillRect/>
          </a:stretch>
        </p:blipFill>
        <p:spPr>
          <a:xfrm>
            <a:off x="7022592" y="1636776"/>
            <a:ext cx="256032" cy="256032"/>
          </a:xfrm>
          <a:prstGeom prst="rect">
            <a:avLst/>
          </a:prstGeom>
        </p:spPr>
      </p:pic>
      <p:sp>
        <p:nvSpPr>
          <p:cNvPr id="25" name="Text 19"/>
          <p:cNvSpPr txBox="1"/>
          <p:nvPr/>
        </p:nvSpPr>
        <p:spPr>
          <a:xfrm>
            <a:off x="6894576" y="2121408"/>
            <a:ext cx="1645920" cy="310896"/>
          </a:xfrm>
          <a:prstGeom prst="rect">
            <a:avLst/>
          </a:prstGeom>
          <a:noFill/>
          <a:ln/>
        </p:spPr>
        <p:txBody>
          <a:bodyPr wrap="square" lIns="0" tIns="0" rIns="0" bIns="0" rtlCol="0" anchor="ctr"/>
          <a:lstStyle/>
          <a:p>
            <a:pPr indent="0" marL="0">
              <a:buNone/>
            </a:pPr>
            <a:r>
              <a:rPr lang="en-US" sz="1500" b="1" dirty="0">
                <a:solidFill>
                  <a:srgbClr val="E6EDF7"/>
                </a:solidFill>
                <a:latin typeface="Calibri" pitchFamily="34" charset="0"/>
                <a:ea typeface="Calibri" pitchFamily="34" charset="-122"/>
                <a:cs typeface="Calibri" pitchFamily="34" charset="-120"/>
              </a:rPr>
              <a:t>Accumulator</a:t>
            </a:r>
            <a:endParaRPr lang="en-US" sz="1500" dirty="0"/>
          </a:p>
        </p:txBody>
      </p:sp>
      <p:sp>
        <p:nvSpPr>
          <p:cNvPr id="26" name="Text 20"/>
          <p:cNvSpPr txBox="1"/>
          <p:nvPr/>
        </p:nvSpPr>
        <p:spPr>
          <a:xfrm>
            <a:off x="6894576" y="2450592"/>
            <a:ext cx="169164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4 classes</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90 / 100 / 115 / 130 bar</a:t>
            </a:r>
            <a:endParaRPr lang="en-US" sz="1100" dirty="0"/>
          </a:p>
        </p:txBody>
      </p:sp>
      <p:sp>
        <p:nvSpPr>
          <p:cNvPr id="27" name="Text 21"/>
          <p:cNvSpPr txBox="1"/>
          <p:nvPr/>
        </p:nvSpPr>
        <p:spPr>
          <a:xfrm>
            <a:off x="6894576" y="3017520"/>
            <a:ext cx="164592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imbalance </a:t>
            </a:r>
            <a:pPr indent="0" marL="0">
              <a:buNone/>
            </a:pPr>
            <a:r>
              <a:rPr lang="en-US" sz="1150" b="1" dirty="0">
                <a:solidFill>
                  <a:srgbClr val="F59E0B"/>
                </a:solidFill>
                <a:latin typeface="Calibri" pitchFamily="34" charset="0"/>
                <a:ea typeface="Calibri" pitchFamily="34" charset="-122"/>
                <a:cs typeface="Calibri" pitchFamily="34" charset="-120"/>
              </a:rPr>
              <a:t>2.03</a:t>
            </a:r>
            <a:endParaRPr lang="en-US" sz="1150" dirty="0"/>
          </a:p>
        </p:txBody>
      </p:sp>
      <p:sp>
        <p:nvSpPr>
          <p:cNvPr id="28" name="Shape 22"/>
          <p:cNvSpPr/>
          <p:nvPr/>
        </p:nvSpPr>
        <p:spPr>
          <a:xfrm>
            <a:off x="457200" y="3657600"/>
            <a:ext cx="8229600" cy="960120"/>
          </a:xfrm>
          <a:prstGeom prst="roundRect">
            <a:avLst>
              <a:gd name="adj" fmla="val 7619"/>
            </a:avLst>
          </a:prstGeom>
          <a:solidFill>
            <a:srgbClr val="1B2940"/>
          </a:solidFill>
          <a:ln w="9525">
            <a:solidFill>
              <a:srgbClr val="2A3754"/>
            </a:solidFill>
            <a:prstDash val="solid"/>
          </a:ln>
        </p:spPr>
      </p:sp>
      <p:sp>
        <p:nvSpPr>
          <p:cNvPr id="29" name="Text 23"/>
          <p:cNvSpPr txBox="1"/>
          <p:nvPr/>
        </p:nvSpPr>
        <p:spPr>
          <a:xfrm>
            <a:off x="658368" y="3749040"/>
            <a:ext cx="7863840" cy="777240"/>
          </a:xfrm>
          <a:prstGeom prst="rect">
            <a:avLst/>
          </a:prstGeom>
          <a:noFill/>
          <a:ln/>
        </p:spPr>
        <p:txBody>
          <a:bodyPr wrap="square" lIns="0" tIns="0" rIns="0" bIns="0" rtlCol="0" anchor="ctr"/>
          <a:lstStyle/>
          <a:p>
            <a:pPr indent="0" marL="0">
              <a:buNone/>
            </a:pPr>
            <a:r>
              <a:rPr lang="en-US" sz="1250" b="1" dirty="0">
                <a:solidFill>
                  <a:srgbClr val="818CF8"/>
                </a:solidFill>
                <a:latin typeface="Calibri" pitchFamily="34" charset="0"/>
                <a:ea typeface="Calibri" pitchFamily="34" charset="-122"/>
                <a:cs typeface="Calibri" pitchFamily="34" charset="-120"/>
              </a:rPr>
              <a:t>Why separate models: </a:t>
            </a:r>
            <a:pPr indent="0" marL="0">
              <a:buNone/>
            </a:pPr>
            <a:r>
              <a:rPr lang="en-US" sz="1250" dirty="0">
                <a:solidFill>
                  <a:srgbClr val="E6EDF7"/>
                </a:solidFill>
                <a:latin typeface="Calibri" pitchFamily="34" charset="0"/>
                <a:ea typeface="Calibri" pitchFamily="34" charset="-122"/>
                <a:cs typeface="Calibri" pitchFamily="34" charset="-120"/>
              </a:rPr>
              <a:t>the joint label has 144 combinations, most seen in only 10 cycles. Why macro-F1: </a:t>
            </a:r>
            <a:pPr indent="0" marL="0">
              <a:buNone/>
            </a:pPr>
            <a:r>
              <a:rPr lang="en-US" sz="1250" dirty="0">
                <a:solidFill>
                  <a:srgbClr val="E6EDF7"/>
                </a:solidFill>
                <a:latin typeface="Calibri" pitchFamily="34" charset="0"/>
                <a:ea typeface="Calibri" pitchFamily="34" charset="-122"/>
                <a:cs typeface="Calibri" pitchFamily="34" charset="-120"/>
              </a:rPr>
              <a:t>three targets are imbalanced, and the rare severe-fault classes matter most.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E6EDF7"/>
                </a:solidFill>
                <a:latin typeface="Cambria" pitchFamily="34" charset="0"/>
                <a:ea typeface="Cambria" pitchFamily="34" charset="-122"/>
                <a:cs typeface="Cambria" pitchFamily="34" charset="-120"/>
              </a:rPr>
              <a:t>Four model families, one fair protocol</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818CF8"/>
                </a:solidFill>
                <a:latin typeface="Calibri" pitchFamily="34" charset="0"/>
                <a:ea typeface="Calibri" pitchFamily="34" charset="-122"/>
                <a:cs typeface="Calibri" pitchFamily="34" charset="-120"/>
              </a:rPr>
              <a:t>Hyperparameters held fixed so differences come from model family and representation</a:t>
            </a:r>
            <a:endParaRPr lang="en-US" sz="1300" dirty="0"/>
          </a:p>
        </p:txBody>
      </p:sp>
      <p:sp>
        <p:nvSpPr>
          <p:cNvPr id="4" name="Shape 2"/>
          <p:cNvSpPr/>
          <p:nvPr/>
        </p:nvSpPr>
        <p:spPr>
          <a:xfrm>
            <a:off x="457200" y="1325880"/>
            <a:ext cx="1883664" cy="1481328"/>
          </a:xfrm>
          <a:prstGeom prst="roundRect">
            <a:avLst>
              <a:gd name="adj" fmla="val 4938"/>
            </a:avLst>
          </a:prstGeom>
          <a:solidFill>
            <a:srgbClr val="152033"/>
          </a:solidFill>
          <a:ln w="9525">
            <a:solidFill>
              <a:srgbClr val="2A3754"/>
            </a:solidFill>
            <a:prstDash val="solid"/>
          </a:ln>
        </p:spPr>
      </p:sp>
      <p:sp>
        <p:nvSpPr>
          <p:cNvPr id="5" name="Shape 3"/>
          <p:cNvSpPr/>
          <p:nvPr/>
        </p:nvSpPr>
        <p:spPr>
          <a:xfrm>
            <a:off x="640080" y="1508760"/>
            <a:ext cx="475488" cy="475488"/>
          </a:xfrm>
          <a:prstGeom prst="ellipse">
            <a:avLst/>
          </a:prstGeom>
          <a:solidFill>
            <a:srgbClr val="818CF8">
              <a:alpha val="22000"/>
            </a:srgbClr>
          </a:solidFill>
          <a:ln w="12700">
            <a:solidFill>
              <a:srgbClr val="818CF8"/>
            </a:solidFill>
            <a:prstDash val="solid"/>
          </a:ln>
        </p:spPr>
      </p:sp>
      <p:pic>
        <p:nvPicPr>
          <p:cNvPr id="6" name="Image 0" descr="preencoded.png">    </p:cNvPr>
          <p:cNvPicPr>
            <a:picLocks noChangeAspect="1"/>
          </p:cNvPicPr>
          <p:nvPr/>
        </p:nvPicPr>
        <p:blipFill>
          <a:blip r:embed="rId1"/>
          <a:stretch>
            <a:fillRect/>
          </a:stretch>
        </p:blipFill>
        <p:spPr>
          <a:xfrm>
            <a:off x="758952" y="1627632"/>
            <a:ext cx="237744" cy="237744"/>
          </a:xfrm>
          <a:prstGeom prst="rect">
            <a:avLst/>
          </a:prstGeom>
        </p:spPr>
      </p:pic>
      <p:sp>
        <p:nvSpPr>
          <p:cNvPr id="7" name="Text 4"/>
          <p:cNvSpPr txBox="1"/>
          <p:nvPr/>
        </p:nvSpPr>
        <p:spPr>
          <a:xfrm>
            <a:off x="640080" y="2057400"/>
            <a:ext cx="1600200" cy="292608"/>
          </a:xfrm>
          <a:prstGeom prst="rect">
            <a:avLst/>
          </a:prstGeom>
          <a:noFill/>
          <a:ln/>
        </p:spPr>
        <p:txBody>
          <a:bodyPr wrap="square" lIns="0" tIns="0" rIns="0" bIns="0" rtlCol="0" anchor="ctr"/>
          <a:lstStyle/>
          <a:p>
            <a:pPr indent="0" marL="0">
              <a:buNone/>
            </a:pPr>
            <a:r>
              <a:rPr lang="en-US" sz="1300" b="1" dirty="0">
                <a:solidFill>
                  <a:srgbClr val="E6EDF7"/>
                </a:solidFill>
                <a:latin typeface="Calibri" pitchFamily="34" charset="0"/>
                <a:ea typeface="Calibri" pitchFamily="34" charset="-122"/>
                <a:cs typeface="Calibri" pitchFamily="34" charset="-120"/>
              </a:rPr>
              <a:t>Logistic regression</a:t>
            </a:r>
            <a:endParaRPr lang="en-US" sz="1300" dirty="0"/>
          </a:p>
        </p:txBody>
      </p:sp>
      <p:sp>
        <p:nvSpPr>
          <p:cNvPr id="8" name="Text 5"/>
          <p:cNvSpPr txBox="1"/>
          <p:nvPr/>
        </p:nvSpPr>
        <p:spPr>
          <a:xfrm>
            <a:off x="640080" y="2350008"/>
            <a:ext cx="1645920" cy="36576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linear baseline · L2, C = 1</a:t>
            </a:r>
            <a:endParaRPr lang="en-US" sz="1050" dirty="0"/>
          </a:p>
        </p:txBody>
      </p:sp>
      <p:sp>
        <p:nvSpPr>
          <p:cNvPr id="9" name="Shape 6"/>
          <p:cNvSpPr/>
          <p:nvPr/>
        </p:nvSpPr>
        <p:spPr>
          <a:xfrm>
            <a:off x="2468880" y="1325880"/>
            <a:ext cx="1883664" cy="1481328"/>
          </a:xfrm>
          <a:prstGeom prst="roundRect">
            <a:avLst>
              <a:gd name="adj" fmla="val 4938"/>
            </a:avLst>
          </a:prstGeom>
          <a:solidFill>
            <a:srgbClr val="152033"/>
          </a:solidFill>
          <a:ln w="9525">
            <a:solidFill>
              <a:srgbClr val="2A3754"/>
            </a:solidFill>
            <a:prstDash val="solid"/>
          </a:ln>
        </p:spPr>
      </p:sp>
      <p:sp>
        <p:nvSpPr>
          <p:cNvPr id="10" name="Shape 7"/>
          <p:cNvSpPr/>
          <p:nvPr/>
        </p:nvSpPr>
        <p:spPr>
          <a:xfrm>
            <a:off x="2651760" y="1508760"/>
            <a:ext cx="475488" cy="475488"/>
          </a:xfrm>
          <a:prstGeom prst="ellipse">
            <a:avLst/>
          </a:prstGeom>
          <a:solidFill>
            <a:srgbClr val="818CF8">
              <a:alpha val="22000"/>
            </a:srgbClr>
          </a:solidFill>
          <a:ln w="12700">
            <a:solidFill>
              <a:srgbClr val="818CF8"/>
            </a:solidFill>
            <a:prstDash val="solid"/>
          </a:ln>
        </p:spPr>
      </p:sp>
      <p:pic>
        <p:nvPicPr>
          <p:cNvPr id="11" name="Image 1" descr="preencoded.png">    </p:cNvPr>
          <p:cNvPicPr>
            <a:picLocks noChangeAspect="1"/>
          </p:cNvPicPr>
          <p:nvPr/>
        </p:nvPicPr>
        <p:blipFill>
          <a:blip r:embed="rId2"/>
          <a:stretch>
            <a:fillRect/>
          </a:stretch>
        </p:blipFill>
        <p:spPr>
          <a:xfrm>
            <a:off x="2770632" y="1627632"/>
            <a:ext cx="237744" cy="237744"/>
          </a:xfrm>
          <a:prstGeom prst="rect">
            <a:avLst/>
          </a:prstGeom>
        </p:spPr>
      </p:pic>
      <p:sp>
        <p:nvSpPr>
          <p:cNvPr id="12" name="Text 8"/>
          <p:cNvSpPr txBox="1"/>
          <p:nvPr/>
        </p:nvSpPr>
        <p:spPr>
          <a:xfrm>
            <a:off x="2651760" y="2057400"/>
            <a:ext cx="1600200" cy="292608"/>
          </a:xfrm>
          <a:prstGeom prst="rect">
            <a:avLst/>
          </a:prstGeom>
          <a:noFill/>
          <a:ln/>
        </p:spPr>
        <p:txBody>
          <a:bodyPr wrap="square" lIns="0" tIns="0" rIns="0" bIns="0" rtlCol="0" anchor="ctr"/>
          <a:lstStyle/>
          <a:p>
            <a:pPr indent="0" marL="0">
              <a:buNone/>
            </a:pPr>
            <a:r>
              <a:rPr lang="en-US" sz="1300" b="1" dirty="0">
                <a:solidFill>
                  <a:srgbClr val="E6EDF7"/>
                </a:solidFill>
                <a:latin typeface="Calibri" pitchFamily="34" charset="0"/>
                <a:ea typeface="Calibri" pitchFamily="34" charset="-122"/>
                <a:cs typeface="Calibri" pitchFamily="34" charset="-120"/>
              </a:rPr>
              <a:t>Random forest</a:t>
            </a:r>
            <a:endParaRPr lang="en-US" sz="1300" dirty="0"/>
          </a:p>
        </p:txBody>
      </p:sp>
      <p:sp>
        <p:nvSpPr>
          <p:cNvPr id="13" name="Text 9"/>
          <p:cNvSpPr txBox="1"/>
          <p:nvPr/>
        </p:nvSpPr>
        <p:spPr>
          <a:xfrm>
            <a:off x="2651760" y="2350008"/>
            <a:ext cx="1645920" cy="36576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300 trees · class-weighted</a:t>
            </a:r>
            <a:endParaRPr lang="en-US" sz="1050" dirty="0"/>
          </a:p>
        </p:txBody>
      </p:sp>
      <p:sp>
        <p:nvSpPr>
          <p:cNvPr id="14" name="Shape 10"/>
          <p:cNvSpPr/>
          <p:nvPr/>
        </p:nvSpPr>
        <p:spPr>
          <a:xfrm>
            <a:off x="457200" y="2971800"/>
            <a:ext cx="1883664" cy="1481328"/>
          </a:xfrm>
          <a:prstGeom prst="roundRect">
            <a:avLst>
              <a:gd name="adj" fmla="val 4938"/>
            </a:avLst>
          </a:prstGeom>
          <a:solidFill>
            <a:srgbClr val="152033"/>
          </a:solidFill>
          <a:ln w="9525">
            <a:solidFill>
              <a:srgbClr val="2A3754"/>
            </a:solidFill>
            <a:prstDash val="solid"/>
          </a:ln>
        </p:spPr>
      </p:sp>
      <p:sp>
        <p:nvSpPr>
          <p:cNvPr id="15" name="Shape 11"/>
          <p:cNvSpPr/>
          <p:nvPr/>
        </p:nvSpPr>
        <p:spPr>
          <a:xfrm>
            <a:off x="640080" y="3154680"/>
            <a:ext cx="475488" cy="475488"/>
          </a:xfrm>
          <a:prstGeom prst="ellipse">
            <a:avLst/>
          </a:prstGeom>
          <a:solidFill>
            <a:srgbClr val="818CF8">
              <a:alpha val="22000"/>
            </a:srgbClr>
          </a:solidFill>
          <a:ln w="12700">
            <a:solidFill>
              <a:srgbClr val="818CF8"/>
            </a:solidFill>
            <a:prstDash val="solid"/>
          </a:ln>
        </p:spPr>
      </p:sp>
      <p:pic>
        <p:nvPicPr>
          <p:cNvPr id="16" name="Image 2" descr="preencoded.png">    </p:cNvPr>
          <p:cNvPicPr>
            <a:picLocks noChangeAspect="1"/>
          </p:cNvPicPr>
          <p:nvPr/>
        </p:nvPicPr>
        <p:blipFill>
          <a:blip r:embed="rId3"/>
          <a:stretch>
            <a:fillRect/>
          </a:stretch>
        </p:blipFill>
        <p:spPr>
          <a:xfrm>
            <a:off x="758952" y="3273552"/>
            <a:ext cx="237744" cy="237744"/>
          </a:xfrm>
          <a:prstGeom prst="rect">
            <a:avLst/>
          </a:prstGeom>
        </p:spPr>
      </p:pic>
      <p:sp>
        <p:nvSpPr>
          <p:cNvPr id="17" name="Text 12"/>
          <p:cNvSpPr txBox="1"/>
          <p:nvPr/>
        </p:nvSpPr>
        <p:spPr>
          <a:xfrm>
            <a:off x="640080" y="3703320"/>
            <a:ext cx="1600200" cy="292608"/>
          </a:xfrm>
          <a:prstGeom prst="rect">
            <a:avLst/>
          </a:prstGeom>
          <a:noFill/>
          <a:ln/>
        </p:spPr>
        <p:txBody>
          <a:bodyPr wrap="square" lIns="0" tIns="0" rIns="0" bIns="0" rtlCol="0" anchor="ctr"/>
          <a:lstStyle/>
          <a:p>
            <a:pPr indent="0" marL="0">
              <a:buNone/>
            </a:pPr>
            <a:r>
              <a:rPr lang="en-US" sz="1300" b="1" dirty="0">
                <a:solidFill>
                  <a:srgbClr val="E6EDF7"/>
                </a:solidFill>
                <a:latin typeface="Calibri" pitchFamily="34" charset="0"/>
                <a:ea typeface="Calibri" pitchFamily="34" charset="-122"/>
                <a:cs typeface="Calibri" pitchFamily="34" charset="-120"/>
              </a:rPr>
              <a:t>XGBoost</a:t>
            </a:r>
            <a:endParaRPr lang="en-US" sz="1300" dirty="0"/>
          </a:p>
        </p:txBody>
      </p:sp>
      <p:sp>
        <p:nvSpPr>
          <p:cNvPr id="18" name="Text 13"/>
          <p:cNvSpPr txBox="1"/>
          <p:nvPr/>
        </p:nvSpPr>
        <p:spPr>
          <a:xfrm>
            <a:off x="640080" y="3995928"/>
            <a:ext cx="1645920" cy="36576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300 trees · depth 5 · η 0.1</a:t>
            </a:r>
            <a:endParaRPr lang="en-US" sz="1050" dirty="0"/>
          </a:p>
        </p:txBody>
      </p:sp>
      <p:sp>
        <p:nvSpPr>
          <p:cNvPr id="19" name="Shape 14"/>
          <p:cNvSpPr/>
          <p:nvPr/>
        </p:nvSpPr>
        <p:spPr>
          <a:xfrm>
            <a:off x="2468880" y="2971800"/>
            <a:ext cx="1883664" cy="1481328"/>
          </a:xfrm>
          <a:prstGeom prst="roundRect">
            <a:avLst>
              <a:gd name="adj" fmla="val 4938"/>
            </a:avLst>
          </a:prstGeom>
          <a:solidFill>
            <a:srgbClr val="152033"/>
          </a:solidFill>
          <a:ln w="9525">
            <a:solidFill>
              <a:srgbClr val="2A3754"/>
            </a:solidFill>
            <a:prstDash val="solid"/>
          </a:ln>
        </p:spPr>
      </p:sp>
      <p:sp>
        <p:nvSpPr>
          <p:cNvPr id="20" name="Shape 15"/>
          <p:cNvSpPr/>
          <p:nvPr/>
        </p:nvSpPr>
        <p:spPr>
          <a:xfrm>
            <a:off x="2651760" y="3154680"/>
            <a:ext cx="475488" cy="475488"/>
          </a:xfrm>
          <a:prstGeom prst="ellipse">
            <a:avLst/>
          </a:prstGeom>
          <a:solidFill>
            <a:srgbClr val="818CF8">
              <a:alpha val="22000"/>
            </a:srgbClr>
          </a:solidFill>
          <a:ln w="12700">
            <a:solidFill>
              <a:srgbClr val="818CF8"/>
            </a:solidFill>
            <a:prstDash val="solid"/>
          </a:ln>
        </p:spPr>
      </p:sp>
      <p:pic>
        <p:nvPicPr>
          <p:cNvPr id="21" name="Image 3" descr="preencoded.png">    </p:cNvPr>
          <p:cNvPicPr>
            <a:picLocks noChangeAspect="1"/>
          </p:cNvPicPr>
          <p:nvPr/>
        </p:nvPicPr>
        <p:blipFill>
          <a:blip r:embed="rId4"/>
          <a:stretch>
            <a:fillRect/>
          </a:stretch>
        </p:blipFill>
        <p:spPr>
          <a:xfrm>
            <a:off x="2770632" y="3273552"/>
            <a:ext cx="237744" cy="237744"/>
          </a:xfrm>
          <a:prstGeom prst="rect">
            <a:avLst/>
          </a:prstGeom>
        </p:spPr>
      </p:pic>
      <p:sp>
        <p:nvSpPr>
          <p:cNvPr id="22" name="Text 16"/>
          <p:cNvSpPr txBox="1"/>
          <p:nvPr/>
        </p:nvSpPr>
        <p:spPr>
          <a:xfrm>
            <a:off x="2651760" y="3703320"/>
            <a:ext cx="1600200" cy="292608"/>
          </a:xfrm>
          <a:prstGeom prst="rect">
            <a:avLst/>
          </a:prstGeom>
          <a:noFill/>
          <a:ln/>
        </p:spPr>
        <p:txBody>
          <a:bodyPr wrap="square" lIns="0" tIns="0" rIns="0" bIns="0" rtlCol="0" anchor="ctr"/>
          <a:lstStyle/>
          <a:p>
            <a:pPr indent="0" marL="0">
              <a:buNone/>
            </a:pPr>
            <a:r>
              <a:rPr lang="en-US" sz="1300" b="1" dirty="0">
                <a:solidFill>
                  <a:srgbClr val="E6EDF7"/>
                </a:solidFill>
                <a:latin typeface="Calibri" pitchFamily="34" charset="0"/>
                <a:ea typeface="Calibri" pitchFamily="34" charset="-122"/>
                <a:cs typeface="Calibri" pitchFamily="34" charset="-120"/>
              </a:rPr>
              <a:t>SVM (RBF)</a:t>
            </a:r>
            <a:endParaRPr lang="en-US" sz="1300" dirty="0"/>
          </a:p>
        </p:txBody>
      </p:sp>
      <p:sp>
        <p:nvSpPr>
          <p:cNvPr id="23" name="Text 17"/>
          <p:cNvSpPr txBox="1"/>
          <p:nvPr/>
        </p:nvSpPr>
        <p:spPr>
          <a:xfrm>
            <a:off x="2651760" y="3995928"/>
            <a:ext cx="1645920" cy="36576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C = 10 · γ = scale</a:t>
            </a:r>
            <a:endParaRPr lang="en-US" sz="1050" dirty="0"/>
          </a:p>
        </p:txBody>
      </p:sp>
      <p:sp>
        <p:nvSpPr>
          <p:cNvPr id="24" name="Shape 18"/>
          <p:cNvSpPr/>
          <p:nvPr/>
        </p:nvSpPr>
        <p:spPr>
          <a:xfrm>
            <a:off x="4617720" y="1344168"/>
            <a:ext cx="384048" cy="384048"/>
          </a:xfrm>
          <a:prstGeom prst="ellipse">
            <a:avLst/>
          </a:prstGeom>
          <a:solidFill>
            <a:srgbClr val="818CF8"/>
          </a:solidFill>
          <a:ln/>
        </p:spPr>
      </p:sp>
      <p:sp>
        <p:nvSpPr>
          <p:cNvPr id="25" name="Text 19"/>
          <p:cNvSpPr txBox="1"/>
          <p:nvPr/>
        </p:nvSpPr>
        <p:spPr>
          <a:xfrm>
            <a:off x="4617720" y="1344168"/>
            <a:ext cx="384048" cy="38404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1</a:t>
            </a:r>
            <a:endParaRPr lang="en-US" sz="1300" dirty="0"/>
          </a:p>
        </p:txBody>
      </p:sp>
      <p:sp>
        <p:nvSpPr>
          <p:cNvPr id="26" name="Text 20"/>
          <p:cNvSpPr txBox="1"/>
          <p:nvPr/>
        </p:nvSpPr>
        <p:spPr>
          <a:xfrm>
            <a:off x="5138928" y="1307592"/>
            <a:ext cx="3566160" cy="457200"/>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Stratified 80 / 20 split per target: 1,764 train, 441 test</a:t>
            </a:r>
            <a:endParaRPr lang="en-US" sz="1250" dirty="0"/>
          </a:p>
        </p:txBody>
      </p:sp>
      <p:sp>
        <p:nvSpPr>
          <p:cNvPr id="27" name="Shape 21"/>
          <p:cNvSpPr/>
          <p:nvPr/>
        </p:nvSpPr>
        <p:spPr>
          <a:xfrm>
            <a:off x="4617720" y="1984248"/>
            <a:ext cx="384048" cy="384048"/>
          </a:xfrm>
          <a:prstGeom prst="ellipse">
            <a:avLst/>
          </a:prstGeom>
          <a:solidFill>
            <a:srgbClr val="818CF8"/>
          </a:solidFill>
          <a:ln/>
        </p:spPr>
      </p:sp>
      <p:sp>
        <p:nvSpPr>
          <p:cNvPr id="28" name="Text 22"/>
          <p:cNvSpPr txBox="1"/>
          <p:nvPr/>
        </p:nvSpPr>
        <p:spPr>
          <a:xfrm>
            <a:off x="4617720" y="1984248"/>
            <a:ext cx="384048" cy="38404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2</a:t>
            </a:r>
            <a:endParaRPr lang="en-US" sz="1300" dirty="0"/>
          </a:p>
        </p:txBody>
      </p:sp>
      <p:sp>
        <p:nvSpPr>
          <p:cNvPr id="29" name="Text 23"/>
          <p:cNvSpPr txBox="1"/>
          <p:nvPr/>
        </p:nvSpPr>
        <p:spPr>
          <a:xfrm>
            <a:off x="5138928" y="1947672"/>
            <a:ext cx="3566160" cy="457200"/>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5-fold stratified CV on the training set only: 48 configurations</a:t>
            </a:r>
            <a:endParaRPr lang="en-US" sz="1250" dirty="0"/>
          </a:p>
        </p:txBody>
      </p:sp>
      <p:sp>
        <p:nvSpPr>
          <p:cNvPr id="30" name="Shape 24"/>
          <p:cNvSpPr/>
          <p:nvPr/>
        </p:nvSpPr>
        <p:spPr>
          <a:xfrm>
            <a:off x="4617720" y="2624328"/>
            <a:ext cx="384048" cy="384048"/>
          </a:xfrm>
          <a:prstGeom prst="ellipse">
            <a:avLst/>
          </a:prstGeom>
          <a:solidFill>
            <a:srgbClr val="818CF8"/>
          </a:solidFill>
          <a:ln/>
        </p:spPr>
      </p:sp>
      <p:sp>
        <p:nvSpPr>
          <p:cNvPr id="31" name="Text 25"/>
          <p:cNvSpPr txBox="1"/>
          <p:nvPr/>
        </p:nvSpPr>
        <p:spPr>
          <a:xfrm>
            <a:off x="4617720" y="2624328"/>
            <a:ext cx="384048" cy="38404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3</a:t>
            </a:r>
            <a:endParaRPr lang="en-US" sz="1300" dirty="0"/>
          </a:p>
        </p:txBody>
      </p:sp>
      <p:sp>
        <p:nvSpPr>
          <p:cNvPr id="32" name="Text 26"/>
          <p:cNvSpPr txBox="1"/>
          <p:nvPr/>
        </p:nvSpPr>
        <p:spPr>
          <a:xfrm>
            <a:off x="5138928" y="2587752"/>
            <a:ext cx="3566160" cy="457200"/>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Pick the best mean macro-F1; ties go to the simpler model</a:t>
            </a:r>
            <a:endParaRPr lang="en-US" sz="1250" dirty="0"/>
          </a:p>
        </p:txBody>
      </p:sp>
      <p:sp>
        <p:nvSpPr>
          <p:cNvPr id="33" name="Shape 27"/>
          <p:cNvSpPr/>
          <p:nvPr/>
        </p:nvSpPr>
        <p:spPr>
          <a:xfrm>
            <a:off x="4617720" y="3264408"/>
            <a:ext cx="384048" cy="384048"/>
          </a:xfrm>
          <a:prstGeom prst="ellipse">
            <a:avLst/>
          </a:prstGeom>
          <a:solidFill>
            <a:srgbClr val="818CF8"/>
          </a:solidFill>
          <a:ln/>
        </p:spPr>
      </p:sp>
      <p:sp>
        <p:nvSpPr>
          <p:cNvPr id="34" name="Text 28"/>
          <p:cNvSpPr txBox="1"/>
          <p:nvPr/>
        </p:nvSpPr>
        <p:spPr>
          <a:xfrm>
            <a:off x="4617720" y="3264408"/>
            <a:ext cx="384048" cy="38404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4</a:t>
            </a:r>
            <a:endParaRPr lang="en-US" sz="1300" dirty="0"/>
          </a:p>
        </p:txBody>
      </p:sp>
      <p:sp>
        <p:nvSpPr>
          <p:cNvPr id="35" name="Text 29"/>
          <p:cNvSpPr txBox="1"/>
          <p:nvPr/>
        </p:nvSpPr>
        <p:spPr>
          <a:xfrm>
            <a:off x="5138928" y="3227832"/>
            <a:ext cx="3566160" cy="457200"/>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Refit once, score the untouched test set exactly once</a:t>
            </a:r>
            <a:endParaRPr lang="en-US" sz="1250" dirty="0"/>
          </a:p>
        </p:txBody>
      </p:sp>
      <p:sp>
        <p:nvSpPr>
          <p:cNvPr id="36" name="Shape 30"/>
          <p:cNvSpPr/>
          <p:nvPr/>
        </p:nvSpPr>
        <p:spPr>
          <a:xfrm>
            <a:off x="4617720" y="3904488"/>
            <a:ext cx="384048" cy="384048"/>
          </a:xfrm>
          <a:prstGeom prst="ellipse">
            <a:avLst/>
          </a:prstGeom>
          <a:solidFill>
            <a:srgbClr val="818CF8"/>
          </a:solidFill>
          <a:ln/>
        </p:spPr>
      </p:sp>
      <p:sp>
        <p:nvSpPr>
          <p:cNvPr id="37" name="Text 31"/>
          <p:cNvSpPr txBox="1"/>
          <p:nvPr/>
        </p:nvSpPr>
        <p:spPr>
          <a:xfrm>
            <a:off x="4617720" y="3904488"/>
            <a:ext cx="384048" cy="38404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5</a:t>
            </a:r>
            <a:endParaRPr lang="en-US" sz="1300" dirty="0"/>
          </a:p>
        </p:txBody>
      </p:sp>
      <p:sp>
        <p:nvSpPr>
          <p:cNvPr id="38" name="Text 32"/>
          <p:cNvSpPr txBox="1"/>
          <p:nvPr/>
        </p:nvSpPr>
        <p:spPr>
          <a:xfrm>
            <a:off x="5138928" y="3867912"/>
            <a:ext cx="3566160" cy="457200"/>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Blocked CV (25-cycle blocks) as a leakage check</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E6EDF7"/>
                </a:solidFill>
                <a:latin typeface="Cambria" pitchFamily="34" charset="0"/>
                <a:ea typeface="Cambria" pitchFamily="34" charset="-122"/>
                <a:cs typeface="Cambria" pitchFamily="34" charset="-120"/>
              </a:rPr>
              <a:t>48 configurations compared</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818CF8"/>
                </a:solidFill>
                <a:latin typeface="Calibri" pitchFamily="34" charset="0"/>
                <a:ea typeface="Calibri" pitchFamily="34" charset="-122"/>
                <a:cs typeface="Calibri" pitchFamily="34" charset="-120"/>
              </a:rPr>
              <a:t>Cross-validated macro-F1 on the training set (from the ML Studio dashboard)</a:t>
            </a:r>
            <a:endParaRPr lang="en-US" sz="1300" dirty="0"/>
          </a:p>
        </p:txBody>
      </p:sp>
      <p:sp>
        <p:nvSpPr>
          <p:cNvPr id="4" name="Shape 2"/>
          <p:cNvSpPr/>
          <p:nvPr/>
        </p:nvSpPr>
        <p:spPr>
          <a:xfrm>
            <a:off x="457200" y="1179576"/>
            <a:ext cx="8229600" cy="2464491"/>
          </a:xfrm>
          <a:prstGeom prst="roundRect">
            <a:avLst>
              <a:gd name="adj" fmla="val 2226"/>
            </a:avLst>
          </a:prstGeom>
          <a:solidFill>
            <a:srgbClr val="152033"/>
          </a:solidFill>
          <a:ln w="9525">
            <a:solidFill>
              <a:srgbClr val="2A3754"/>
            </a:solidFill>
            <a:prstDash val="solid"/>
          </a:ln>
        </p:spPr>
      </p:sp>
      <p:pic>
        <p:nvPicPr>
          <p:cNvPr id="5" name="Image 0" descr="img/ml_arena.png">    </p:cNvPr>
          <p:cNvPicPr>
            <a:picLocks noChangeAspect="1"/>
          </p:cNvPicPr>
          <p:nvPr/>
        </p:nvPicPr>
        <p:blipFill>
          <a:blip r:embed="rId1"/>
          <a:stretch>
            <a:fillRect/>
          </a:stretch>
        </p:blipFill>
        <p:spPr>
          <a:xfrm>
            <a:off x="512064" y="1234440"/>
            <a:ext cx="8119872" cy="2354763"/>
          </a:xfrm>
          <a:prstGeom prst="rect">
            <a:avLst/>
          </a:prstGeom>
        </p:spPr>
      </p:pic>
      <p:sp>
        <p:nvSpPr>
          <p:cNvPr id="6" name="Shape 3"/>
          <p:cNvSpPr/>
          <p:nvPr/>
        </p:nvSpPr>
        <p:spPr>
          <a:xfrm>
            <a:off x="457200" y="3749040"/>
            <a:ext cx="2633472" cy="896112"/>
          </a:xfrm>
          <a:prstGeom prst="roundRect">
            <a:avLst>
              <a:gd name="adj" fmla="val 8163"/>
            </a:avLst>
          </a:prstGeom>
          <a:solidFill>
            <a:srgbClr val="152033"/>
          </a:solidFill>
          <a:ln w="9525">
            <a:solidFill>
              <a:srgbClr val="2A3754"/>
            </a:solidFill>
            <a:prstDash val="solid"/>
          </a:ln>
        </p:spPr>
      </p:sp>
      <p:sp>
        <p:nvSpPr>
          <p:cNvPr id="7" name="Text 4"/>
          <p:cNvSpPr txBox="1"/>
          <p:nvPr/>
        </p:nvSpPr>
        <p:spPr>
          <a:xfrm>
            <a:off x="621792" y="3822192"/>
            <a:ext cx="2331720" cy="274320"/>
          </a:xfrm>
          <a:prstGeom prst="rect">
            <a:avLst/>
          </a:prstGeom>
          <a:noFill/>
          <a:ln/>
        </p:spPr>
        <p:txBody>
          <a:bodyPr wrap="square" lIns="0" tIns="0" rIns="0" bIns="0" rtlCol="0" anchor="ctr"/>
          <a:lstStyle/>
          <a:p>
            <a:pPr indent="0" marL="0">
              <a:buNone/>
            </a:pPr>
            <a:r>
              <a:rPr lang="en-US" sz="1250" b="1" dirty="0">
                <a:solidFill>
                  <a:srgbClr val="818CF8"/>
                </a:solidFill>
                <a:latin typeface="Calibri" pitchFamily="34" charset="0"/>
                <a:ea typeface="Calibri" pitchFamily="34" charset="-122"/>
                <a:cs typeface="Calibri" pitchFamily="34" charset="-120"/>
              </a:rPr>
              <a:t>Tree ensembles are robust</a:t>
            </a:r>
            <a:endParaRPr lang="en-US" sz="1250" dirty="0"/>
          </a:p>
        </p:txBody>
      </p:sp>
      <p:sp>
        <p:nvSpPr>
          <p:cNvPr id="8" name="Text 5"/>
          <p:cNvSpPr txBox="1"/>
          <p:nvPr/>
        </p:nvSpPr>
        <p:spPr>
          <a:xfrm>
            <a:off x="621792" y="4114800"/>
            <a:ext cx="2377440" cy="457200"/>
          </a:xfrm>
          <a:prstGeom prst="rect">
            <a:avLst/>
          </a:prstGeom>
          <a:noFill/>
          <a:ln/>
        </p:spPr>
        <p:txBody>
          <a:bodyPr wrap="square" lIns="0" tIns="0" rIns="0" bIns="0" rtlCol="0" anchor="t"/>
          <a:lstStyle/>
          <a:p>
            <a:pPr indent="0" marL="0">
              <a:buNone/>
            </a:pPr>
            <a:r>
              <a:rPr lang="en-US" sz="1050" dirty="0">
                <a:solidFill>
                  <a:srgbClr val="E6EDF7"/>
                </a:solidFill>
                <a:latin typeface="Calibri" pitchFamily="34" charset="0"/>
                <a:ea typeface="Calibri" pitchFamily="34" charset="-122"/>
                <a:cs typeface="Calibri" pitchFamily="34" charset="-120"/>
              </a:rPr>
              <a:t>RF and XGBoost exceed 0.96 even on 17 sensor means.</a:t>
            </a:r>
            <a:endParaRPr lang="en-US" sz="1050" dirty="0"/>
          </a:p>
        </p:txBody>
      </p:sp>
      <p:sp>
        <p:nvSpPr>
          <p:cNvPr id="9" name="Shape 6"/>
          <p:cNvSpPr/>
          <p:nvPr/>
        </p:nvSpPr>
        <p:spPr>
          <a:xfrm>
            <a:off x="3236976" y="3749040"/>
            <a:ext cx="2633472" cy="896112"/>
          </a:xfrm>
          <a:prstGeom prst="roundRect">
            <a:avLst>
              <a:gd name="adj" fmla="val 8163"/>
            </a:avLst>
          </a:prstGeom>
          <a:solidFill>
            <a:srgbClr val="152033"/>
          </a:solidFill>
          <a:ln w="9525">
            <a:solidFill>
              <a:srgbClr val="2A3754"/>
            </a:solidFill>
            <a:prstDash val="solid"/>
          </a:ln>
        </p:spPr>
      </p:sp>
      <p:sp>
        <p:nvSpPr>
          <p:cNvPr id="10" name="Text 7"/>
          <p:cNvSpPr txBox="1"/>
          <p:nvPr/>
        </p:nvSpPr>
        <p:spPr>
          <a:xfrm>
            <a:off x="3401568" y="3822192"/>
            <a:ext cx="2331720" cy="274320"/>
          </a:xfrm>
          <a:prstGeom prst="rect">
            <a:avLst/>
          </a:prstGeom>
          <a:noFill/>
          <a:ln/>
        </p:spPr>
        <p:txBody>
          <a:bodyPr wrap="square" lIns="0" tIns="0" rIns="0" bIns="0" rtlCol="0" anchor="ctr"/>
          <a:lstStyle/>
          <a:p>
            <a:pPr indent="0" marL="0">
              <a:buNone/>
            </a:pPr>
            <a:r>
              <a:rPr lang="en-US" sz="1250" b="1" dirty="0">
                <a:solidFill>
                  <a:srgbClr val="818CF8"/>
                </a:solidFill>
                <a:latin typeface="Calibri" pitchFamily="34" charset="0"/>
                <a:ea typeface="Calibri" pitchFamily="34" charset="-122"/>
                <a:cs typeface="Calibri" pitchFamily="34" charset="-120"/>
              </a:rPr>
              <a:t>Linear models need good features</a:t>
            </a:r>
            <a:endParaRPr lang="en-US" sz="1250" dirty="0"/>
          </a:p>
        </p:txBody>
      </p:sp>
      <p:sp>
        <p:nvSpPr>
          <p:cNvPr id="11" name="Text 8"/>
          <p:cNvSpPr txBox="1"/>
          <p:nvPr/>
        </p:nvSpPr>
        <p:spPr>
          <a:xfrm>
            <a:off x="3401568" y="4114800"/>
            <a:ext cx="2377440" cy="457200"/>
          </a:xfrm>
          <a:prstGeom prst="rect">
            <a:avLst/>
          </a:prstGeom>
          <a:noFill/>
          <a:ln/>
        </p:spPr>
        <p:txBody>
          <a:bodyPr wrap="square" lIns="0" tIns="0" rIns="0" bIns="0" rtlCol="0" anchor="t"/>
          <a:lstStyle/>
          <a:p>
            <a:pPr indent="0" marL="0">
              <a:buNone/>
            </a:pPr>
            <a:r>
              <a:rPr lang="en-US" sz="1050" dirty="0">
                <a:solidFill>
                  <a:srgbClr val="E6EDF7"/>
                </a:solidFill>
                <a:latin typeface="Calibri" pitchFamily="34" charset="0"/>
                <a:ea typeface="Calibri" pitchFamily="34" charset="-122"/>
                <a:cs typeface="Calibri" pitchFamily="34" charset="-120"/>
              </a:rPr>
              <a:t>LR on the valve: 0.672 → 0.991 with engineered features.</a:t>
            </a:r>
            <a:endParaRPr lang="en-US" sz="1050" dirty="0"/>
          </a:p>
        </p:txBody>
      </p:sp>
      <p:sp>
        <p:nvSpPr>
          <p:cNvPr id="12" name="Shape 9"/>
          <p:cNvSpPr/>
          <p:nvPr/>
        </p:nvSpPr>
        <p:spPr>
          <a:xfrm>
            <a:off x="6016752" y="3749040"/>
            <a:ext cx="2633472" cy="896112"/>
          </a:xfrm>
          <a:prstGeom prst="roundRect">
            <a:avLst>
              <a:gd name="adj" fmla="val 8163"/>
            </a:avLst>
          </a:prstGeom>
          <a:solidFill>
            <a:srgbClr val="152033"/>
          </a:solidFill>
          <a:ln w="9525">
            <a:solidFill>
              <a:srgbClr val="2A3754"/>
            </a:solidFill>
            <a:prstDash val="solid"/>
          </a:ln>
        </p:spPr>
      </p:sp>
      <p:sp>
        <p:nvSpPr>
          <p:cNvPr id="13" name="Text 10"/>
          <p:cNvSpPr txBox="1"/>
          <p:nvPr/>
        </p:nvSpPr>
        <p:spPr>
          <a:xfrm>
            <a:off x="6181344" y="3822192"/>
            <a:ext cx="2331720" cy="274320"/>
          </a:xfrm>
          <a:prstGeom prst="rect">
            <a:avLst/>
          </a:prstGeom>
          <a:noFill/>
          <a:ln/>
        </p:spPr>
        <p:txBody>
          <a:bodyPr wrap="square" lIns="0" tIns="0" rIns="0" bIns="0" rtlCol="0" anchor="ctr"/>
          <a:lstStyle/>
          <a:p>
            <a:pPr indent="0" marL="0">
              <a:buNone/>
            </a:pPr>
            <a:r>
              <a:rPr lang="en-US" sz="1250" b="1" dirty="0">
                <a:solidFill>
                  <a:srgbClr val="818CF8"/>
                </a:solidFill>
                <a:latin typeface="Calibri" pitchFamily="34" charset="0"/>
                <a:ea typeface="Calibri" pitchFamily="34" charset="-122"/>
                <a:cs typeface="Calibri" pitchFamily="34" charset="-120"/>
              </a:rPr>
              <a:t>Top models are statistically tied</a:t>
            </a:r>
            <a:endParaRPr lang="en-US" sz="1250" dirty="0"/>
          </a:p>
        </p:txBody>
      </p:sp>
      <p:sp>
        <p:nvSpPr>
          <p:cNvPr id="14" name="Text 11"/>
          <p:cNvSpPr txBox="1"/>
          <p:nvPr/>
        </p:nvSpPr>
        <p:spPr>
          <a:xfrm>
            <a:off x="6181344" y="4114800"/>
            <a:ext cx="2377440" cy="457200"/>
          </a:xfrm>
          <a:prstGeom prst="rect">
            <a:avLst/>
          </a:prstGeom>
          <a:noFill/>
          <a:ln/>
        </p:spPr>
        <p:txBody>
          <a:bodyPr wrap="square" lIns="0" tIns="0" rIns="0" bIns="0" rtlCol="0" anchor="t"/>
          <a:lstStyle/>
          <a:p>
            <a:pPr indent="0" marL="0">
              <a:buNone/>
            </a:pPr>
            <a:r>
              <a:rPr lang="en-US" sz="1050" dirty="0">
                <a:solidFill>
                  <a:srgbClr val="E6EDF7"/>
                </a:solidFill>
                <a:latin typeface="Calibri" pitchFamily="34" charset="0"/>
                <a:ea typeface="Calibri" pitchFamily="34" charset="-122"/>
                <a:cs typeface="Calibri" pitchFamily="34" charset="-120"/>
              </a:rPr>
              <a:t>Top three per target sit within about one fold std.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E6EDF7"/>
                </a:solidFill>
                <a:latin typeface="Cambria" pitchFamily="34" charset="0"/>
                <a:ea typeface="Cambria" pitchFamily="34" charset="-122"/>
                <a:cs typeface="Cambria" pitchFamily="34" charset="-120"/>
              </a:rPr>
              <a:t>Test scores vs a realistic estimate</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818CF8"/>
                </a:solidFill>
                <a:latin typeface="Calibri" pitchFamily="34" charset="0"/>
                <a:ea typeface="Calibri" pitchFamily="34" charset="-122"/>
                <a:cs typeface="Calibri" pitchFamily="34" charset="-120"/>
              </a:rPr>
              <a:t>Neighbouring cycles are near-duplicates, so a random split is optimistic</a:t>
            </a:r>
            <a:endParaRPr lang="en-US" sz="1300" dirty="0"/>
          </a:p>
        </p:txBody>
      </p:sp>
      <p:graphicFrame>
        <p:nvGraphicFramePr>
          <p:cNvPr id="4" name="Chart 0" descr=""/>
          <p:cNvGraphicFramePr/>
          <p:nvPr/>
        </p:nvGraphicFramePr>
        <p:xfrm>
          <a:off x="457200" y="1234440"/>
          <a:ext cx="5394960" cy="3429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126480" y="1280160"/>
            <a:ext cx="2560320" cy="1005840"/>
          </a:xfrm>
          <a:prstGeom prst="roundRect">
            <a:avLst>
              <a:gd name="adj" fmla="val 7273"/>
            </a:avLst>
          </a:prstGeom>
          <a:solidFill>
            <a:srgbClr val="152033"/>
          </a:solidFill>
          <a:ln w="9525">
            <a:solidFill>
              <a:srgbClr val="2A3754"/>
            </a:solidFill>
            <a:prstDash val="solid"/>
          </a:ln>
        </p:spPr>
      </p:sp>
      <p:sp>
        <p:nvSpPr>
          <p:cNvPr id="6" name="Text 3"/>
          <p:cNvSpPr txBox="1"/>
          <p:nvPr/>
        </p:nvSpPr>
        <p:spPr>
          <a:xfrm>
            <a:off x="6291072" y="1389888"/>
            <a:ext cx="2231136" cy="502920"/>
          </a:xfrm>
          <a:prstGeom prst="rect">
            <a:avLst/>
          </a:prstGeom>
          <a:noFill/>
          <a:ln/>
        </p:spPr>
        <p:txBody>
          <a:bodyPr wrap="square" lIns="0" tIns="0" rIns="0" bIns="0" rtlCol="0" anchor="ctr"/>
          <a:lstStyle/>
          <a:p>
            <a:pPr indent="0" marL="0">
              <a:buNone/>
            </a:pPr>
            <a:r>
              <a:rPr lang="en-US" sz="2800" b="1" dirty="0">
                <a:solidFill>
                  <a:srgbClr val="E6EDF7"/>
                </a:solidFill>
                <a:latin typeface="Cambria" pitchFamily="34" charset="0"/>
                <a:ea typeface="Cambria" pitchFamily="34" charset="-122"/>
                <a:cs typeface="Cambria" pitchFamily="34" charset="-120"/>
              </a:rPr>
              <a:t>1.000</a:t>
            </a:r>
            <a:endParaRPr lang="en-US" sz="2800" dirty="0"/>
          </a:p>
        </p:txBody>
      </p:sp>
      <p:sp>
        <p:nvSpPr>
          <p:cNvPr id="7" name="Text 4"/>
          <p:cNvSpPr txBox="1"/>
          <p:nvPr/>
        </p:nvSpPr>
        <p:spPr>
          <a:xfrm>
            <a:off x="6291072" y="1883664"/>
            <a:ext cx="2231136" cy="32918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test macro-F1: cooler, valve, pump</a:t>
            </a:r>
            <a:endParaRPr lang="en-US" sz="1150" dirty="0"/>
          </a:p>
        </p:txBody>
      </p:sp>
      <p:sp>
        <p:nvSpPr>
          <p:cNvPr id="8" name="Shape 5"/>
          <p:cNvSpPr/>
          <p:nvPr/>
        </p:nvSpPr>
        <p:spPr>
          <a:xfrm>
            <a:off x="6126480" y="2423160"/>
            <a:ext cx="2560320" cy="1005840"/>
          </a:xfrm>
          <a:prstGeom prst="roundRect">
            <a:avLst>
              <a:gd name="adj" fmla="val 7273"/>
            </a:avLst>
          </a:prstGeom>
          <a:solidFill>
            <a:srgbClr val="152033"/>
          </a:solidFill>
          <a:ln w="9525">
            <a:solidFill>
              <a:srgbClr val="2A3754"/>
            </a:solidFill>
            <a:prstDash val="solid"/>
          </a:ln>
        </p:spPr>
      </p:sp>
      <p:sp>
        <p:nvSpPr>
          <p:cNvPr id="9" name="Text 6"/>
          <p:cNvSpPr txBox="1"/>
          <p:nvPr/>
        </p:nvSpPr>
        <p:spPr>
          <a:xfrm>
            <a:off x="6291072" y="2532888"/>
            <a:ext cx="2231136" cy="50292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0.916</a:t>
            </a:r>
            <a:endParaRPr lang="en-US" sz="2800" dirty="0"/>
          </a:p>
        </p:txBody>
      </p:sp>
      <p:sp>
        <p:nvSpPr>
          <p:cNvPr id="10" name="Text 7"/>
          <p:cNvSpPr txBox="1"/>
          <p:nvPr/>
        </p:nvSpPr>
        <p:spPr>
          <a:xfrm>
            <a:off x="6291072" y="3026664"/>
            <a:ext cx="2231136" cy="32918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accumulator under blocked CV</a:t>
            </a:r>
            <a:endParaRPr lang="en-US" sz="1150" dirty="0"/>
          </a:p>
        </p:txBody>
      </p:sp>
      <p:sp>
        <p:nvSpPr>
          <p:cNvPr id="11" name="Shape 8"/>
          <p:cNvSpPr/>
          <p:nvPr/>
        </p:nvSpPr>
        <p:spPr>
          <a:xfrm>
            <a:off x="6126480" y="3566160"/>
            <a:ext cx="2560320" cy="1005840"/>
          </a:xfrm>
          <a:prstGeom prst="roundRect">
            <a:avLst>
              <a:gd name="adj" fmla="val 7273"/>
            </a:avLst>
          </a:prstGeom>
          <a:solidFill>
            <a:srgbClr val="152033"/>
          </a:solidFill>
          <a:ln w="9525">
            <a:solidFill>
              <a:srgbClr val="2A3754"/>
            </a:solidFill>
            <a:prstDash val="solid"/>
          </a:ln>
        </p:spPr>
      </p:sp>
      <p:sp>
        <p:nvSpPr>
          <p:cNvPr id="12" name="Text 9"/>
          <p:cNvSpPr txBox="1"/>
          <p:nvPr/>
        </p:nvSpPr>
        <p:spPr>
          <a:xfrm>
            <a:off x="6291072" y="3675888"/>
            <a:ext cx="2231136" cy="502920"/>
          </a:xfrm>
          <a:prstGeom prst="rect">
            <a:avLst/>
          </a:prstGeom>
          <a:noFill/>
          <a:ln/>
        </p:spPr>
        <p:txBody>
          <a:bodyPr wrap="square" lIns="0" tIns="0" rIns="0" bIns="0" rtlCol="0" anchor="ctr"/>
          <a:lstStyle/>
          <a:p>
            <a:pPr indent="0" marL="0">
              <a:buNone/>
            </a:pPr>
            <a:r>
              <a:rPr lang="en-US" sz="2800" b="1" dirty="0">
                <a:solidFill>
                  <a:srgbClr val="EF4444"/>
                </a:solidFill>
                <a:latin typeface="Cambria" pitchFamily="34" charset="0"/>
                <a:ea typeface="Cambria" pitchFamily="34" charset="-122"/>
                <a:cs typeface="Cambria" pitchFamily="34" charset="-120"/>
              </a:rPr>
              <a:t>7.6 pts</a:t>
            </a:r>
            <a:endParaRPr lang="en-US" sz="2800" dirty="0"/>
          </a:p>
        </p:txBody>
      </p:sp>
      <p:sp>
        <p:nvSpPr>
          <p:cNvPr id="13" name="Text 10"/>
          <p:cNvSpPr txBox="1"/>
          <p:nvPr/>
        </p:nvSpPr>
        <p:spPr>
          <a:xfrm>
            <a:off x="6291072" y="4169664"/>
            <a:ext cx="2231136" cy="32918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largest random-split optimism</a:t>
            </a:r>
            <a:endParaRPr lang="en-US" sz="1150" dirty="0"/>
          </a:p>
        </p:txBody>
      </p:sp>
      <p:sp>
        <p:nvSpPr>
          <p:cNvPr id="14" name="Text 11"/>
          <p:cNvSpPr txBox="1"/>
          <p:nvPr/>
        </p:nvSpPr>
        <p:spPr>
          <a:xfrm>
            <a:off x="457200" y="4773168"/>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Y-axis starts at 0.88. Blocked CV holds out 25 consecutive cycles at a time.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E6EDF7"/>
                </a:solidFill>
                <a:latin typeface="Cambria" pitchFamily="34" charset="0"/>
                <a:ea typeface="Cambria" pitchFamily="34" charset="-122"/>
                <a:cs typeface="Cambria" pitchFamily="34" charset="-120"/>
              </a:rPr>
              <a:t>Where the models fail, and why they decide</a:t>
            </a:r>
            <a:endParaRPr lang="en-US" sz="2800" dirty="0"/>
          </a:p>
        </p:txBody>
      </p:sp>
      <p:sp>
        <p:nvSpPr>
          <p:cNvPr id="3" name="Shape 1"/>
          <p:cNvSpPr/>
          <p:nvPr/>
        </p:nvSpPr>
        <p:spPr>
          <a:xfrm>
            <a:off x="457200" y="905256"/>
            <a:ext cx="4681728" cy="3081528"/>
          </a:xfrm>
          <a:prstGeom prst="roundRect">
            <a:avLst>
              <a:gd name="adj" fmla="val 1780"/>
            </a:avLst>
          </a:prstGeom>
          <a:solidFill>
            <a:srgbClr val="152033"/>
          </a:solidFill>
          <a:ln w="9525">
            <a:solidFill>
              <a:srgbClr val="2A3754"/>
            </a:solidFill>
            <a:prstDash val="solid"/>
          </a:ln>
        </p:spPr>
      </p:sp>
      <p:pic>
        <p:nvPicPr>
          <p:cNvPr id="4" name="Image 0" descr="img/ml_eval.png">    </p:cNvPr>
          <p:cNvPicPr>
            <a:picLocks noChangeAspect="1"/>
          </p:cNvPicPr>
          <p:nvPr/>
        </p:nvPicPr>
        <p:blipFill>
          <a:blip r:embed="rId1"/>
          <a:stretch>
            <a:fillRect/>
          </a:stretch>
        </p:blipFill>
        <p:spPr>
          <a:xfrm>
            <a:off x="512064" y="960120"/>
            <a:ext cx="4572000" cy="2971800"/>
          </a:xfrm>
          <a:prstGeom prst="rect">
            <a:avLst/>
          </a:prstGeom>
        </p:spPr>
      </p:pic>
      <p:sp>
        <p:nvSpPr>
          <p:cNvPr id="5" name="Text 2"/>
          <p:cNvSpPr txBox="1"/>
          <p:nvPr/>
        </p:nvSpPr>
        <p:spPr>
          <a:xfrm>
            <a:off x="457200" y="4023360"/>
            <a:ext cx="4681728" cy="45720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Accumulator on its 441 test cycles: all 5 errors are 100 bar predicted as 90 bar</a:t>
            </a:r>
            <a:endParaRPr lang="en-US" sz="1000" dirty="0"/>
          </a:p>
        </p:txBody>
      </p:sp>
      <p:sp>
        <p:nvSpPr>
          <p:cNvPr id="6" name="Text 3"/>
          <p:cNvSpPr txBox="1"/>
          <p:nvPr/>
        </p:nvSpPr>
        <p:spPr>
          <a:xfrm>
            <a:off x="5440680" y="960120"/>
            <a:ext cx="3200400" cy="292608"/>
          </a:xfrm>
          <a:prstGeom prst="rect">
            <a:avLst/>
          </a:prstGeom>
          <a:noFill/>
          <a:ln/>
        </p:spPr>
        <p:txBody>
          <a:bodyPr wrap="square" lIns="0" tIns="0" rIns="0" bIns="0" rtlCol="0" anchor="ctr"/>
          <a:lstStyle/>
          <a:p>
            <a:pPr indent="0" marL="0">
              <a:buNone/>
            </a:pPr>
            <a:r>
              <a:rPr lang="en-US" sz="1400" b="1" dirty="0">
                <a:solidFill>
                  <a:srgbClr val="818CF8"/>
                </a:solidFill>
                <a:latin typeface="Calibri" pitchFamily="34" charset="0"/>
                <a:ea typeface="Calibri" pitchFamily="34" charset="-122"/>
                <a:cs typeface="Calibri" pitchFamily="34" charset="-120"/>
              </a:rPr>
              <a:t>Top feature per model</a:t>
            </a:r>
            <a:endParaRPr lang="en-US" sz="1400" dirty="0"/>
          </a:p>
        </p:txBody>
      </p:sp>
      <p:sp>
        <p:nvSpPr>
          <p:cNvPr id="7" name="Shape 4"/>
          <p:cNvSpPr/>
          <p:nvPr/>
        </p:nvSpPr>
        <p:spPr>
          <a:xfrm>
            <a:off x="5440680" y="1353312"/>
            <a:ext cx="3246120" cy="566928"/>
          </a:xfrm>
          <a:prstGeom prst="roundRect">
            <a:avLst>
              <a:gd name="adj" fmla="val 12903"/>
            </a:avLst>
          </a:prstGeom>
          <a:solidFill>
            <a:srgbClr val="152033"/>
          </a:solidFill>
          <a:ln w="9525">
            <a:solidFill>
              <a:srgbClr val="2A3754"/>
            </a:solidFill>
            <a:prstDash val="solid"/>
          </a:ln>
        </p:spPr>
      </p:sp>
      <p:sp>
        <p:nvSpPr>
          <p:cNvPr id="8" name="Text 5"/>
          <p:cNvSpPr txBox="1"/>
          <p:nvPr/>
        </p:nvSpPr>
        <p:spPr>
          <a:xfrm>
            <a:off x="5577840" y="1408176"/>
            <a:ext cx="1097280" cy="457200"/>
          </a:xfrm>
          <a:prstGeom prst="rect">
            <a:avLst/>
          </a:prstGeom>
          <a:noFill/>
          <a:ln/>
        </p:spPr>
        <p:txBody>
          <a:bodyPr wrap="square" lIns="0" tIns="0" rIns="0" bIns="0" rtlCol="0" anchor="ctr"/>
          <a:lstStyle/>
          <a:p>
            <a:pPr indent="0" marL="0">
              <a:buNone/>
            </a:pPr>
            <a:r>
              <a:rPr lang="en-US" sz="1150" b="1" dirty="0">
                <a:solidFill>
                  <a:srgbClr val="E6EDF7"/>
                </a:solidFill>
                <a:latin typeface="Calibri" pitchFamily="34" charset="0"/>
                <a:ea typeface="Calibri" pitchFamily="34" charset="-122"/>
                <a:cs typeface="Calibri" pitchFamily="34" charset="-120"/>
              </a:rPr>
              <a:t>Cooler</a:t>
            </a:r>
            <a:endParaRPr lang="en-US" sz="1150" dirty="0"/>
          </a:p>
        </p:txBody>
      </p:sp>
      <p:sp>
        <p:nvSpPr>
          <p:cNvPr id="9" name="Text 6"/>
          <p:cNvSpPr txBox="1"/>
          <p:nvPr/>
        </p:nvSpPr>
        <p:spPr>
          <a:xfrm>
            <a:off x="6675120" y="1389888"/>
            <a:ext cx="1920240" cy="493776"/>
          </a:xfrm>
          <a:prstGeom prst="rect">
            <a:avLst/>
          </a:prstGeom>
          <a:noFill/>
          <a:ln/>
        </p:spPr>
        <p:txBody>
          <a:bodyPr wrap="square" lIns="0" tIns="0" rIns="0" bIns="0" rtlCol="0" anchor="ctr"/>
          <a:lstStyle/>
          <a:p>
            <a:pPr indent="0" marL="0">
              <a:buNone/>
            </a:pPr>
            <a:r>
              <a:rPr lang="en-US" sz="1050" dirty="0">
                <a:solidFill>
                  <a:srgbClr val="E6EDF7"/>
                </a:solidFill>
                <a:latin typeface="Calibri" pitchFamily="34" charset="0"/>
                <a:ea typeface="Calibri" pitchFamily="34" charset="-122"/>
                <a:cs typeface="Calibri" pitchFamily="34" charset="-120"/>
              </a:rPr>
              <a:t>CP mean (cooling power)</a:t>
            </a:r>
            <a:endParaRPr lang="en-US" sz="1050" dirty="0"/>
          </a:p>
          <a:p>
            <a:pPr indent="0" marL="0">
              <a:buNone/>
            </a:pPr>
            <a:r>
              <a:rPr lang="en-US" sz="950" dirty="0">
                <a:solidFill>
                  <a:srgbClr val="94A3B8"/>
                </a:solidFill>
                <a:latin typeface="Calibri" pitchFamily="34" charset="0"/>
                <a:ea typeface="Calibri" pitchFamily="34" charset="-122"/>
                <a:cs typeface="Calibri" pitchFamily="34" charset="-120"/>
              </a:rPr>
              <a:t>heat removal</a:t>
            </a:r>
            <a:endParaRPr lang="en-US" sz="1050" dirty="0"/>
          </a:p>
        </p:txBody>
      </p:sp>
      <p:sp>
        <p:nvSpPr>
          <p:cNvPr id="10" name="Shape 7"/>
          <p:cNvSpPr/>
          <p:nvPr/>
        </p:nvSpPr>
        <p:spPr>
          <a:xfrm>
            <a:off x="5440680" y="2011680"/>
            <a:ext cx="3246120" cy="566928"/>
          </a:xfrm>
          <a:prstGeom prst="roundRect">
            <a:avLst>
              <a:gd name="adj" fmla="val 12903"/>
            </a:avLst>
          </a:prstGeom>
          <a:solidFill>
            <a:srgbClr val="152033"/>
          </a:solidFill>
          <a:ln w="9525">
            <a:solidFill>
              <a:srgbClr val="2A3754"/>
            </a:solidFill>
            <a:prstDash val="solid"/>
          </a:ln>
        </p:spPr>
      </p:sp>
      <p:sp>
        <p:nvSpPr>
          <p:cNvPr id="11" name="Text 8"/>
          <p:cNvSpPr txBox="1"/>
          <p:nvPr/>
        </p:nvSpPr>
        <p:spPr>
          <a:xfrm>
            <a:off x="5577840" y="2066544"/>
            <a:ext cx="1097280" cy="457200"/>
          </a:xfrm>
          <a:prstGeom prst="rect">
            <a:avLst/>
          </a:prstGeom>
          <a:noFill/>
          <a:ln/>
        </p:spPr>
        <p:txBody>
          <a:bodyPr wrap="square" lIns="0" tIns="0" rIns="0" bIns="0" rtlCol="0" anchor="ctr"/>
          <a:lstStyle/>
          <a:p>
            <a:pPr indent="0" marL="0">
              <a:buNone/>
            </a:pPr>
            <a:r>
              <a:rPr lang="en-US" sz="1150" b="1" dirty="0">
                <a:solidFill>
                  <a:srgbClr val="E6EDF7"/>
                </a:solidFill>
                <a:latin typeface="Calibri" pitchFamily="34" charset="0"/>
                <a:ea typeface="Calibri" pitchFamily="34" charset="-122"/>
                <a:cs typeface="Calibri" pitchFamily="34" charset="-120"/>
              </a:rPr>
              <a:t>Valve</a:t>
            </a:r>
            <a:endParaRPr lang="en-US" sz="1150" dirty="0"/>
          </a:p>
        </p:txBody>
      </p:sp>
      <p:sp>
        <p:nvSpPr>
          <p:cNvPr id="12" name="Text 9"/>
          <p:cNvSpPr txBox="1"/>
          <p:nvPr/>
        </p:nvSpPr>
        <p:spPr>
          <a:xfrm>
            <a:off x="6675120" y="2048256"/>
            <a:ext cx="1920240" cy="493776"/>
          </a:xfrm>
          <a:prstGeom prst="rect">
            <a:avLst/>
          </a:prstGeom>
          <a:noFill/>
          <a:ln/>
        </p:spPr>
        <p:txBody>
          <a:bodyPr wrap="square" lIns="0" tIns="0" rIns="0" bIns="0" rtlCol="0" anchor="ctr"/>
          <a:lstStyle/>
          <a:p>
            <a:pPr indent="0" marL="0">
              <a:buNone/>
            </a:pPr>
            <a:r>
              <a:rPr lang="en-US" sz="1050" dirty="0">
                <a:solidFill>
                  <a:srgbClr val="E6EDF7"/>
                </a:solidFill>
                <a:latin typeface="Calibri" pitchFamily="34" charset="0"/>
                <a:ea typeface="Calibri" pitchFamily="34" charset="-122"/>
                <a:cs typeface="Calibri" pitchFamily="34" charset="-120"/>
              </a:rPr>
              <a:t>PS2 coefficient of variation</a:t>
            </a:r>
            <a:endParaRPr lang="en-US" sz="1050" dirty="0"/>
          </a:p>
          <a:p>
            <a:pPr indent="0" marL="0">
              <a:buNone/>
            </a:pPr>
            <a:r>
              <a:rPr lang="en-US" sz="950" dirty="0">
                <a:solidFill>
                  <a:srgbClr val="94A3B8"/>
                </a:solidFill>
                <a:latin typeface="Calibri" pitchFamily="34" charset="0"/>
                <a:ea typeface="Calibri" pitchFamily="34" charset="-122"/>
                <a:cs typeface="Calibri" pitchFamily="34" charset="-120"/>
              </a:rPr>
              <a:t>switching lag</a:t>
            </a:r>
            <a:endParaRPr lang="en-US" sz="1050" dirty="0"/>
          </a:p>
        </p:txBody>
      </p:sp>
      <p:sp>
        <p:nvSpPr>
          <p:cNvPr id="13" name="Shape 10"/>
          <p:cNvSpPr/>
          <p:nvPr/>
        </p:nvSpPr>
        <p:spPr>
          <a:xfrm>
            <a:off x="5440680" y="2670048"/>
            <a:ext cx="3246120" cy="566928"/>
          </a:xfrm>
          <a:prstGeom prst="roundRect">
            <a:avLst>
              <a:gd name="adj" fmla="val 12903"/>
            </a:avLst>
          </a:prstGeom>
          <a:solidFill>
            <a:srgbClr val="152033"/>
          </a:solidFill>
          <a:ln w="9525">
            <a:solidFill>
              <a:srgbClr val="2A3754"/>
            </a:solidFill>
            <a:prstDash val="solid"/>
          </a:ln>
        </p:spPr>
      </p:sp>
      <p:sp>
        <p:nvSpPr>
          <p:cNvPr id="14" name="Text 11"/>
          <p:cNvSpPr txBox="1"/>
          <p:nvPr/>
        </p:nvSpPr>
        <p:spPr>
          <a:xfrm>
            <a:off x="5577840" y="2724912"/>
            <a:ext cx="1097280" cy="457200"/>
          </a:xfrm>
          <a:prstGeom prst="rect">
            <a:avLst/>
          </a:prstGeom>
          <a:noFill/>
          <a:ln/>
        </p:spPr>
        <p:txBody>
          <a:bodyPr wrap="square" lIns="0" tIns="0" rIns="0" bIns="0" rtlCol="0" anchor="ctr"/>
          <a:lstStyle/>
          <a:p>
            <a:pPr indent="0" marL="0">
              <a:buNone/>
            </a:pPr>
            <a:r>
              <a:rPr lang="en-US" sz="1150" b="1" dirty="0">
                <a:solidFill>
                  <a:srgbClr val="E6EDF7"/>
                </a:solidFill>
                <a:latin typeface="Calibri" pitchFamily="34" charset="0"/>
                <a:ea typeface="Calibri" pitchFamily="34" charset="-122"/>
                <a:cs typeface="Calibri" pitchFamily="34" charset="-120"/>
              </a:rPr>
              <a:t>Pump</a:t>
            </a:r>
            <a:endParaRPr lang="en-US" sz="1150" dirty="0"/>
          </a:p>
        </p:txBody>
      </p:sp>
      <p:sp>
        <p:nvSpPr>
          <p:cNvPr id="15" name="Text 12"/>
          <p:cNvSpPr txBox="1"/>
          <p:nvPr/>
        </p:nvSpPr>
        <p:spPr>
          <a:xfrm>
            <a:off x="6675120" y="2706624"/>
            <a:ext cx="1920240" cy="493776"/>
          </a:xfrm>
          <a:prstGeom prst="rect">
            <a:avLst/>
          </a:prstGeom>
          <a:noFill/>
          <a:ln/>
        </p:spPr>
        <p:txBody>
          <a:bodyPr wrap="square" lIns="0" tIns="0" rIns="0" bIns="0" rtlCol="0" anchor="ctr"/>
          <a:lstStyle/>
          <a:p>
            <a:pPr indent="0" marL="0">
              <a:buNone/>
            </a:pPr>
            <a:r>
              <a:rPr lang="en-US" sz="1050" dirty="0">
                <a:solidFill>
                  <a:srgbClr val="E6EDF7"/>
                </a:solidFill>
                <a:latin typeface="Calibri" pitchFamily="34" charset="0"/>
                <a:ea typeface="Calibri" pitchFamily="34" charset="-122"/>
                <a:cs typeface="Calibri" pitchFamily="34" charset="-120"/>
              </a:rPr>
              <a:t>FS1 75th percentile flow</a:t>
            </a:r>
            <a:endParaRPr lang="en-US" sz="1050" dirty="0"/>
          </a:p>
          <a:p>
            <a:pPr indent="0" marL="0">
              <a:buNone/>
            </a:pPr>
            <a:r>
              <a:rPr lang="en-US" sz="950" dirty="0">
                <a:solidFill>
                  <a:srgbClr val="94A3B8"/>
                </a:solidFill>
                <a:latin typeface="Calibri" pitchFamily="34" charset="0"/>
                <a:ea typeface="Calibri" pitchFamily="34" charset="-122"/>
                <a:cs typeface="Calibri" pitchFamily="34" charset="-120"/>
              </a:rPr>
              <a:t>leakage cuts flow</a:t>
            </a:r>
            <a:endParaRPr lang="en-US" sz="1050" dirty="0"/>
          </a:p>
        </p:txBody>
      </p:sp>
      <p:sp>
        <p:nvSpPr>
          <p:cNvPr id="16" name="Shape 13"/>
          <p:cNvSpPr/>
          <p:nvPr/>
        </p:nvSpPr>
        <p:spPr>
          <a:xfrm>
            <a:off x="5440680" y="3328416"/>
            <a:ext cx="3246120" cy="566928"/>
          </a:xfrm>
          <a:prstGeom prst="roundRect">
            <a:avLst>
              <a:gd name="adj" fmla="val 12903"/>
            </a:avLst>
          </a:prstGeom>
          <a:solidFill>
            <a:srgbClr val="152033"/>
          </a:solidFill>
          <a:ln w="9525">
            <a:solidFill>
              <a:srgbClr val="2A3754"/>
            </a:solidFill>
            <a:prstDash val="solid"/>
          </a:ln>
        </p:spPr>
      </p:sp>
      <p:sp>
        <p:nvSpPr>
          <p:cNvPr id="17" name="Text 14"/>
          <p:cNvSpPr txBox="1"/>
          <p:nvPr/>
        </p:nvSpPr>
        <p:spPr>
          <a:xfrm>
            <a:off x="5577840" y="3383280"/>
            <a:ext cx="1097280" cy="457200"/>
          </a:xfrm>
          <a:prstGeom prst="rect">
            <a:avLst/>
          </a:prstGeom>
          <a:noFill/>
          <a:ln/>
        </p:spPr>
        <p:txBody>
          <a:bodyPr wrap="square" lIns="0" tIns="0" rIns="0" bIns="0" rtlCol="0" anchor="ctr"/>
          <a:lstStyle/>
          <a:p>
            <a:pPr indent="0" marL="0">
              <a:buNone/>
            </a:pPr>
            <a:r>
              <a:rPr lang="en-US" sz="1150" b="1" dirty="0">
                <a:solidFill>
                  <a:srgbClr val="E6EDF7"/>
                </a:solidFill>
                <a:latin typeface="Calibri" pitchFamily="34" charset="0"/>
                <a:ea typeface="Calibri" pitchFamily="34" charset="-122"/>
                <a:cs typeface="Calibri" pitchFamily="34" charset="-120"/>
              </a:rPr>
              <a:t>Accumulator</a:t>
            </a:r>
            <a:endParaRPr lang="en-US" sz="1150" dirty="0"/>
          </a:p>
        </p:txBody>
      </p:sp>
      <p:sp>
        <p:nvSpPr>
          <p:cNvPr id="18" name="Text 15"/>
          <p:cNvSpPr txBox="1"/>
          <p:nvPr/>
        </p:nvSpPr>
        <p:spPr>
          <a:xfrm>
            <a:off x="6675120" y="3364992"/>
            <a:ext cx="1920240" cy="493776"/>
          </a:xfrm>
          <a:prstGeom prst="rect">
            <a:avLst/>
          </a:prstGeom>
          <a:noFill/>
          <a:ln/>
        </p:spPr>
        <p:txBody>
          <a:bodyPr wrap="square" lIns="0" tIns="0" rIns="0" bIns="0" rtlCol="0" anchor="ctr"/>
          <a:lstStyle/>
          <a:p>
            <a:pPr indent="0" marL="0">
              <a:buNone/>
            </a:pPr>
            <a:r>
              <a:rPr lang="en-US" sz="1050" dirty="0">
                <a:solidFill>
                  <a:srgbClr val="E6EDF7"/>
                </a:solidFill>
                <a:latin typeface="Calibri" pitchFamily="34" charset="0"/>
                <a:ea typeface="Calibri" pitchFamily="34" charset="-122"/>
                <a:cs typeface="Calibri" pitchFamily="34" charset="-120"/>
              </a:rPr>
              <a:t>spread over many features</a:t>
            </a:r>
            <a:endParaRPr lang="en-US" sz="1050" dirty="0"/>
          </a:p>
          <a:p>
            <a:pPr indent="0" marL="0">
              <a:buNone/>
            </a:pPr>
            <a:r>
              <a:rPr lang="en-US" sz="950" dirty="0">
                <a:solidFill>
                  <a:srgbClr val="94A3B8"/>
                </a:solidFill>
                <a:latin typeface="Calibri" pitchFamily="34" charset="0"/>
                <a:ea typeface="Calibri" pitchFamily="34" charset="-122"/>
                <a:cs typeface="Calibri" pitchFamily="34" charset="-120"/>
              </a:rPr>
              <a:t>correlated inputs</a:t>
            </a:r>
            <a:endParaRPr lang="en-US" sz="1050" dirty="0"/>
          </a:p>
        </p:txBody>
      </p:sp>
      <p:sp>
        <p:nvSpPr>
          <p:cNvPr id="19" name="Text 16"/>
          <p:cNvSpPr txBox="1"/>
          <p:nvPr/>
        </p:nvSpPr>
        <p:spPr>
          <a:xfrm>
            <a:off x="457200" y="4773168"/>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The accumulator errors are conservative: they overstate degradation, so they trigger an early inspection, not a missed failure.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E6EDF7"/>
                </a:solidFill>
                <a:latin typeface="Cambria" pitchFamily="34" charset="0"/>
                <a:ea typeface="Cambria" pitchFamily="34" charset="-122"/>
                <a:cs typeface="Cambria" pitchFamily="34" charset="-120"/>
              </a:rPr>
              <a:t>ML Studio and conclusions</a:t>
            </a:r>
            <a:endParaRPr lang="en-US" sz="2800" dirty="0"/>
          </a:p>
        </p:txBody>
      </p:sp>
      <p:sp>
        <p:nvSpPr>
          <p:cNvPr id="3" name="Shape 1"/>
          <p:cNvSpPr/>
          <p:nvPr/>
        </p:nvSpPr>
        <p:spPr>
          <a:xfrm>
            <a:off x="457200" y="950976"/>
            <a:ext cx="4315968" cy="2615184"/>
          </a:xfrm>
          <a:prstGeom prst="roundRect">
            <a:avLst>
              <a:gd name="adj" fmla="val 2098"/>
            </a:avLst>
          </a:prstGeom>
          <a:solidFill>
            <a:srgbClr val="152033"/>
          </a:solidFill>
          <a:ln w="9525">
            <a:solidFill>
              <a:srgbClr val="2A3754"/>
            </a:solidFill>
            <a:prstDash val="solid"/>
          </a:ln>
        </p:spPr>
      </p:sp>
      <p:pic>
        <p:nvPicPr>
          <p:cNvPr id="4" name="Image 0" descr="img/ml_predict.png">    </p:cNvPr>
          <p:cNvPicPr>
            <a:picLocks noChangeAspect="1"/>
          </p:cNvPicPr>
          <p:nvPr/>
        </p:nvPicPr>
        <p:blipFill>
          <a:blip r:embed="rId1"/>
          <a:stretch>
            <a:fillRect/>
          </a:stretch>
        </p:blipFill>
        <p:spPr>
          <a:xfrm>
            <a:off x="512064" y="1005840"/>
            <a:ext cx="4206240" cy="2505456"/>
          </a:xfrm>
          <a:prstGeom prst="rect">
            <a:avLst/>
          </a:prstGeom>
        </p:spPr>
      </p:pic>
      <p:sp>
        <p:nvSpPr>
          <p:cNvPr id="5" name="Text 2"/>
          <p:cNvSpPr txBox="1"/>
          <p:nvPr/>
        </p:nvSpPr>
        <p:spPr>
          <a:xfrm>
            <a:off x="457200" y="3593592"/>
            <a:ext cx="4315968" cy="5029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Nine tabs: predict, model arena, pipeline inspector, evaluation lab, generalisation, error analysis, explainability and robustness</a:t>
            </a:r>
            <a:endParaRPr lang="en-US" sz="1000" dirty="0"/>
          </a:p>
        </p:txBody>
      </p:sp>
      <p:sp>
        <p:nvSpPr>
          <p:cNvPr id="6" name="Shape 3"/>
          <p:cNvSpPr/>
          <p:nvPr/>
        </p:nvSpPr>
        <p:spPr>
          <a:xfrm>
            <a:off x="5074920" y="1005840"/>
            <a:ext cx="420624" cy="420624"/>
          </a:xfrm>
          <a:prstGeom prst="ellipse">
            <a:avLst/>
          </a:prstGeom>
          <a:solidFill>
            <a:srgbClr val="818CF8">
              <a:alpha val="22000"/>
            </a:srgbClr>
          </a:solidFill>
          <a:ln w="12700">
            <a:solidFill>
              <a:srgbClr val="818CF8"/>
            </a:solidFill>
            <a:prstDash val="solid"/>
          </a:ln>
        </p:spPr>
      </p:sp>
      <p:pic>
        <p:nvPicPr>
          <p:cNvPr id="7" name="Image 1" descr="preencoded.png">    </p:cNvPr>
          <p:cNvPicPr>
            <a:picLocks noChangeAspect="1"/>
          </p:cNvPicPr>
          <p:nvPr/>
        </p:nvPicPr>
        <p:blipFill>
          <a:blip r:embed="rId2"/>
          <a:stretch>
            <a:fillRect/>
          </a:stretch>
        </p:blipFill>
        <p:spPr>
          <a:xfrm>
            <a:off x="5180076" y="1110996"/>
            <a:ext cx="210312" cy="210312"/>
          </a:xfrm>
          <a:prstGeom prst="rect">
            <a:avLst/>
          </a:prstGeom>
        </p:spPr>
      </p:pic>
      <p:sp>
        <p:nvSpPr>
          <p:cNvPr id="8" name="Text 4"/>
          <p:cNvSpPr txBox="1"/>
          <p:nvPr/>
        </p:nvSpPr>
        <p:spPr>
          <a:xfrm>
            <a:off x="5623560" y="978408"/>
            <a:ext cx="3063240" cy="274320"/>
          </a:xfrm>
          <a:prstGeom prst="rect">
            <a:avLst/>
          </a:prstGeom>
          <a:noFill/>
          <a:ln/>
        </p:spPr>
        <p:txBody>
          <a:bodyPr wrap="square" lIns="0" tIns="0" rIns="0" bIns="0" rtlCol="0" anchor="ctr"/>
          <a:lstStyle/>
          <a:p>
            <a:pPr indent="0" marL="0">
              <a:buNone/>
            </a:pPr>
            <a:r>
              <a:rPr lang="en-US" sz="1350" b="1" dirty="0">
                <a:solidFill>
                  <a:srgbClr val="E6EDF7"/>
                </a:solidFill>
                <a:latin typeface="Calibri" pitchFamily="34" charset="0"/>
                <a:ea typeface="Calibri" pitchFamily="34" charset="-122"/>
                <a:cs typeface="Calibri" pitchFamily="34" charset="-120"/>
              </a:rPr>
              <a:t>Right model per task</a:t>
            </a:r>
            <a:endParaRPr lang="en-US" sz="1350" dirty="0"/>
          </a:p>
        </p:txBody>
      </p:sp>
      <p:sp>
        <p:nvSpPr>
          <p:cNvPr id="9" name="Text 5"/>
          <p:cNvSpPr txBox="1"/>
          <p:nvPr/>
        </p:nvSpPr>
        <p:spPr>
          <a:xfrm>
            <a:off x="5623560" y="1261872"/>
            <a:ext cx="306324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Tree ensembles win; linear models only compete with engineered features.</a:t>
            </a:r>
            <a:endParaRPr lang="en-US" sz="1100" dirty="0"/>
          </a:p>
        </p:txBody>
      </p:sp>
      <p:sp>
        <p:nvSpPr>
          <p:cNvPr id="10" name="Shape 6"/>
          <p:cNvSpPr/>
          <p:nvPr/>
        </p:nvSpPr>
        <p:spPr>
          <a:xfrm>
            <a:off x="5074920" y="1920240"/>
            <a:ext cx="420624" cy="420624"/>
          </a:xfrm>
          <a:prstGeom prst="ellipse">
            <a:avLst/>
          </a:prstGeom>
          <a:solidFill>
            <a:srgbClr val="818CF8">
              <a:alpha val="22000"/>
            </a:srgbClr>
          </a:solidFill>
          <a:ln w="12700">
            <a:solidFill>
              <a:srgbClr val="818CF8"/>
            </a:solidFill>
            <a:prstDash val="solid"/>
          </a:ln>
        </p:spPr>
      </p:sp>
      <p:pic>
        <p:nvPicPr>
          <p:cNvPr id="11" name="Image 2" descr="preencoded.png">    </p:cNvPr>
          <p:cNvPicPr>
            <a:picLocks noChangeAspect="1"/>
          </p:cNvPicPr>
          <p:nvPr/>
        </p:nvPicPr>
        <p:blipFill>
          <a:blip r:embed="rId3"/>
          <a:stretch>
            <a:fillRect/>
          </a:stretch>
        </p:blipFill>
        <p:spPr>
          <a:xfrm>
            <a:off x="5180076" y="2025396"/>
            <a:ext cx="210312" cy="210312"/>
          </a:xfrm>
          <a:prstGeom prst="rect">
            <a:avLst/>
          </a:prstGeom>
        </p:spPr>
      </p:pic>
      <p:sp>
        <p:nvSpPr>
          <p:cNvPr id="12" name="Text 7"/>
          <p:cNvSpPr txBox="1"/>
          <p:nvPr/>
        </p:nvSpPr>
        <p:spPr>
          <a:xfrm>
            <a:off x="5623560" y="1892808"/>
            <a:ext cx="3063240" cy="274320"/>
          </a:xfrm>
          <a:prstGeom prst="rect">
            <a:avLst/>
          </a:prstGeom>
          <a:noFill/>
          <a:ln/>
        </p:spPr>
        <p:txBody>
          <a:bodyPr wrap="square" lIns="0" tIns="0" rIns="0" bIns="0" rtlCol="0" anchor="ctr"/>
          <a:lstStyle/>
          <a:p>
            <a:pPr indent="0" marL="0">
              <a:buNone/>
            </a:pPr>
            <a:r>
              <a:rPr lang="en-US" sz="1350" b="1" dirty="0">
                <a:solidFill>
                  <a:srgbClr val="E6EDF7"/>
                </a:solidFill>
                <a:latin typeface="Calibri" pitchFamily="34" charset="0"/>
                <a:ea typeface="Calibri" pitchFamily="34" charset="-122"/>
                <a:cs typeface="Calibri" pitchFamily="34" charset="-120"/>
              </a:rPr>
              <a:t>Report the honest number</a:t>
            </a:r>
            <a:endParaRPr lang="en-US" sz="1350" dirty="0"/>
          </a:p>
        </p:txBody>
      </p:sp>
      <p:sp>
        <p:nvSpPr>
          <p:cNvPr id="13" name="Text 8"/>
          <p:cNvSpPr txBox="1"/>
          <p:nvPr/>
        </p:nvSpPr>
        <p:spPr>
          <a:xfrm>
            <a:off x="5623560" y="2176272"/>
            <a:ext cx="306324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Blocked CV is 0.3 to 7.6 points below random-split scores.</a:t>
            </a:r>
            <a:endParaRPr lang="en-US" sz="1100" dirty="0"/>
          </a:p>
        </p:txBody>
      </p:sp>
      <p:sp>
        <p:nvSpPr>
          <p:cNvPr id="14" name="Shape 9"/>
          <p:cNvSpPr/>
          <p:nvPr/>
        </p:nvSpPr>
        <p:spPr>
          <a:xfrm>
            <a:off x="5074920" y="2834640"/>
            <a:ext cx="420624" cy="420624"/>
          </a:xfrm>
          <a:prstGeom prst="ellipse">
            <a:avLst/>
          </a:prstGeom>
          <a:solidFill>
            <a:srgbClr val="818CF8">
              <a:alpha val="22000"/>
            </a:srgbClr>
          </a:solidFill>
          <a:ln w="12700">
            <a:solidFill>
              <a:srgbClr val="818CF8"/>
            </a:solidFill>
            <a:prstDash val="solid"/>
          </a:ln>
        </p:spPr>
      </p:sp>
      <p:pic>
        <p:nvPicPr>
          <p:cNvPr id="15" name="Image 3" descr="preencoded.png">    </p:cNvPr>
          <p:cNvPicPr>
            <a:picLocks noChangeAspect="1"/>
          </p:cNvPicPr>
          <p:nvPr/>
        </p:nvPicPr>
        <p:blipFill>
          <a:blip r:embed="rId4"/>
          <a:stretch>
            <a:fillRect/>
          </a:stretch>
        </p:blipFill>
        <p:spPr>
          <a:xfrm>
            <a:off x="5180076" y="2939796"/>
            <a:ext cx="210312" cy="210312"/>
          </a:xfrm>
          <a:prstGeom prst="rect">
            <a:avLst/>
          </a:prstGeom>
        </p:spPr>
      </p:pic>
      <p:sp>
        <p:nvSpPr>
          <p:cNvPr id="16" name="Text 10"/>
          <p:cNvSpPr txBox="1"/>
          <p:nvPr/>
        </p:nvSpPr>
        <p:spPr>
          <a:xfrm>
            <a:off x="5623560" y="2807208"/>
            <a:ext cx="3063240" cy="274320"/>
          </a:xfrm>
          <a:prstGeom prst="rect">
            <a:avLst/>
          </a:prstGeom>
          <a:noFill/>
          <a:ln/>
        </p:spPr>
        <p:txBody>
          <a:bodyPr wrap="square" lIns="0" tIns="0" rIns="0" bIns="0" rtlCol="0" anchor="ctr"/>
          <a:lstStyle/>
          <a:p>
            <a:pPr indent="0" marL="0">
              <a:buNone/>
            </a:pPr>
            <a:r>
              <a:rPr lang="en-US" sz="1350" b="1" dirty="0">
                <a:solidFill>
                  <a:srgbClr val="E6EDF7"/>
                </a:solidFill>
                <a:latin typeface="Calibri" pitchFamily="34" charset="0"/>
                <a:ea typeface="Calibri" pitchFamily="34" charset="-122"/>
                <a:cs typeface="Calibri" pitchFamily="34" charset="-120"/>
              </a:rPr>
              <a:t>Know the weak spot</a:t>
            </a:r>
            <a:endParaRPr lang="en-US" sz="1350" dirty="0"/>
          </a:p>
        </p:txBody>
      </p:sp>
      <p:sp>
        <p:nvSpPr>
          <p:cNvPr id="17" name="Text 11"/>
          <p:cNvSpPr txBox="1"/>
          <p:nvPr/>
        </p:nvSpPr>
        <p:spPr>
          <a:xfrm>
            <a:off x="5623560" y="3090672"/>
            <a:ext cx="306324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Accumulator 90 vs 100 bar is the one real confusion.</a:t>
            </a:r>
            <a:endParaRPr lang="en-US" sz="1100" dirty="0"/>
          </a:p>
        </p:txBody>
      </p:sp>
      <p:sp>
        <p:nvSpPr>
          <p:cNvPr id="18" name="Shape 12"/>
          <p:cNvSpPr/>
          <p:nvPr/>
        </p:nvSpPr>
        <p:spPr>
          <a:xfrm>
            <a:off x="457200" y="4160520"/>
            <a:ext cx="8229600" cy="548640"/>
          </a:xfrm>
          <a:prstGeom prst="roundRect">
            <a:avLst>
              <a:gd name="adj" fmla="val 13333"/>
            </a:avLst>
          </a:prstGeom>
          <a:solidFill>
            <a:srgbClr val="1B2940"/>
          </a:solidFill>
          <a:ln w="9525">
            <a:solidFill>
              <a:srgbClr val="2A3754"/>
            </a:solidFill>
            <a:prstDash val="solid"/>
          </a:ln>
        </p:spPr>
      </p:sp>
      <p:sp>
        <p:nvSpPr>
          <p:cNvPr id="19" name="Text 13"/>
          <p:cNvSpPr txBox="1"/>
          <p:nvPr/>
        </p:nvSpPr>
        <p:spPr>
          <a:xfrm>
            <a:off x="658368" y="4206240"/>
            <a:ext cx="7863840" cy="457200"/>
          </a:xfrm>
          <a:prstGeom prst="rect">
            <a:avLst/>
          </a:prstGeom>
          <a:noFill/>
          <a:ln/>
        </p:spPr>
        <p:txBody>
          <a:bodyPr wrap="square" lIns="0" tIns="0" rIns="0" bIns="0" rtlCol="0" anchor="ctr"/>
          <a:lstStyle/>
          <a:p>
            <a:pPr indent="0" marL="0">
              <a:buNone/>
            </a:pPr>
            <a:r>
              <a:rPr lang="en-US" sz="1200" b="1" dirty="0">
                <a:solidFill>
                  <a:srgbClr val="818CF8"/>
                </a:solidFill>
                <a:latin typeface="Calibri" pitchFamily="34" charset="0"/>
                <a:ea typeface="Calibri" pitchFamily="34" charset="-122"/>
                <a:cs typeface="Calibri" pitchFamily="34" charset="-120"/>
              </a:rPr>
              <a:t>Future work: </a:t>
            </a:r>
            <a:pPr indent="0" marL="0">
              <a:buNone/>
            </a:pPr>
            <a:r>
              <a:rPr lang="en-US" sz="1200" dirty="0">
                <a:solidFill>
                  <a:srgbClr val="E6EDF7"/>
                </a:solidFill>
                <a:latin typeface="Calibri" pitchFamily="34" charset="0"/>
                <a:ea typeface="Calibri" pitchFamily="34" charset="-122"/>
                <a:cs typeface="Calibri" pitchFamily="34" charset="-120"/>
              </a:rPr>
              <a:t>select models by blocked CV, add feature selection to the accumulator, and test transfer to other machines.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Machine Learning for Hydraulic Condition Classification</dc:title>
  <dc:subject>PptxGenJS Presentation</dc:subject>
  <dc:creator>PptxGenJS</dc:creator>
  <cp:lastModifiedBy>PptxGenJS</cp:lastModifiedBy>
  <cp:revision>1</cp:revision>
  <dcterms:created xsi:type="dcterms:W3CDTF">2026-09-23T19:19:10Z</dcterms:created>
  <dcterms:modified xsi:type="dcterms:W3CDTF">2026-09-23T19:19:10Z</dcterms:modified>
</cp:coreProperties>
</file>