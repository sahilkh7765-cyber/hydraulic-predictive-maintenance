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Statistical</c:v>
                  </c:pt>
                  <c:pt idx="1">
                    <c:v>Time-domain</c:v>
                  </c:pt>
                  <c:pt idx="2">
                    <c:v>Rolling</c:v>
                  </c:pt>
                  <c:pt idx="3">
                    <c:v>Frequency</c:v>
                  </c:pt>
                  <c:pt idx="4">
                    <c:v>Domain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251</c:v>
                </c:pt>
                <c:pt idx="1">
                  <c:v>162</c:v>
                </c:pt>
                <c:pt idx="2">
                  <c:v>54</c:v>
                </c:pt>
                <c:pt idx="3">
                  <c:v>63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ED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203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Calibri"/>
              </a:rPr>
              <a:t>Cross-validated macro-F1 · logistic regression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17 sensor means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Cooler</c:v>
                  </c:pt>
                  <c:pt idx="1">
                    <c:v>Valve</c:v>
                  </c:pt>
                  <c:pt idx="2">
                    <c:v>Pump</c:v>
                  </c:pt>
                  <c:pt idx="3">
                    <c:v>Accumulator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0.998</c:v>
                </c:pt>
                <c:pt idx="1">
                  <c:v>0.672</c:v>
                </c:pt>
                <c:pt idx="2">
                  <c:v>0.976</c:v>
                </c:pt>
                <c:pt idx="3">
                  <c:v>0.642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Engineered features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Cooler</c:v>
                  </c:pt>
                  <c:pt idx="1">
                    <c:v>Valve</c:v>
                  </c:pt>
                  <c:pt idx="2">
                    <c:v>Pump</c:v>
                  </c:pt>
                  <c:pt idx="3">
                    <c:v>Accumulator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0.998</c:v>
                </c:pt>
                <c:pt idx="1">
                  <c:v>0.991</c:v>
                </c:pt>
                <c:pt idx="2">
                  <c:v>0.995</c:v>
                </c:pt>
                <c:pt idx="3">
                  <c:v>0.977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E6ED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5"/>
        </c:scaling>
        <c:delete val="0"/>
        <c:axPos val="l"/>
        <c:majorGridlines>
          <c:spPr>
            <a:ln w="6350" cap="flat">
              <a:solidFill>
                <a:srgbClr val="2A375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2033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6ED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goal: detect the health of four hydraulic components from sensor data. The focus of this project is feature engineering - converting raw multi-rate signals into compact, physically meaningful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raw samples cannot be fed to a classifier: the p &gt;&gt; n problem, three different sampling rates, and the fact that fault signatures are relationships between channels. These three problems motivate feature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blocks. Key design choices: the rolling window is fixed at one second and converted per sensor rate; FFT bands are log-spaced because the load programme changes on a scale of tens of seconds, so linear bands would put almost all energy in the first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generic libraries cannot do. Each domain feature is a physical relationship between channels that a specific fault changes. Use the leaking-pump example to make it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funnel. Emphasise the difference between label-free cleaning, which is safe on all data, and label-based selection, which must be fitted inside the cross-validation folds to avoid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result. For the valve and accumulator, engineered features turn a weak linear model into a near-perfect one. The cooler is already solved by sensor means because the cooling channels separate its levels directly, so engineering adds nothing there - say this honestly. Tree ensembles gain 2 to 3 points because they build non-linear combinations internally.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dashboard if possible. Close with the three takeaways and be ready to explain why the blocked-CV numbers are lower than the test scores: neighbouring cycles are near-duplicates, so a random split is optimistic.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FEATURE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of Industrial Hydraulic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43,680 raw sensor values per cycle into features an engineer can read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Khan Pathan  ·  24AD1199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Mali  ·  24AD1145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Sejal Zende  ·  24AD1158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15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____________________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AI &amp; Data Science Engineering, DY Patil University, Navi Mumbai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34456" y="448056"/>
            <a:ext cx="2807208" cy="2891867"/>
          </a:xfrm>
          <a:prstGeom prst="roundRect">
            <a:avLst>
              <a:gd name="adj" fmla="val 1954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pic>
        <p:nvPicPr>
          <p:cNvPr id="8" name="Image 0" descr="img/raw_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02920"/>
            <a:ext cx="2697480" cy="27821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34456" y="340156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60-second cycle as seen by six sensors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43,680 numbers per cycle, only 2,205 cycles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Condition Monitoring of Hydraulic Systems · ZeMA test rig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2,205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8366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cycles (60 s each)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32888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38988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8366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at 100, 10 and 1 Hz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08576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38988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43,680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188366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per cycle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84264" y="1280160"/>
            <a:ext cx="2002536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48856" y="138988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848856" y="188366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to diagnose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743200"/>
            <a:ext cx="566928" cy="566928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884932"/>
            <a:ext cx="283464" cy="28346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58368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columns than rows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43,680 raw values vs 2,205 cycles - any model would overfit.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36976" y="2560320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38144" y="2743200"/>
            <a:ext cx="566928" cy="566928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76" y="2884932"/>
            <a:ext cx="283464" cy="28346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438144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are not time-aligned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438144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k of a 100 Hz pressure is not the same instant as sample k of a 1 Hz temperature.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016752" y="2560320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17920" y="2743200"/>
            <a:ext cx="566928" cy="566928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2884932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21792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live between channels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21792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leaking pump changes power vs flow; a fouled cooler changes temperature differences.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feature blocks: 626 engineered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becomes one row; every feature has a readable name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3931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298448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41274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57800" y="1280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25780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RMS, skewness, kurtosis, quartiles, CV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1965960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0802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57800" y="19476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5257800" y="22037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slope, first-difference stats, zero crossings, peaks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63440" y="2633472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274777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57800" y="2615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(1 s window)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5257800" y="28712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mean / std, window sized from each sensor's rate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663440" y="3300984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341528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57800" y="32826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(FFT)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5257800" y="3538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frequency, centroid, log-spaced band energies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663440" y="3968496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740" y="4082796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257800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domain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5257800" y="4206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differentials, efficiency, cooling conductance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hydraulic physics as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domain features target specific faults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548640" cy="54864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184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power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792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Pₕ [kW] = p [bar] · Q [l/min] / 600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Pump, valve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45152" y="128016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481328"/>
            <a:ext cx="548640" cy="54864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184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59552" y="14630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Electro-hydraulic efficiency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559552" y="1792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1000 · Pₕ / EPS1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559552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Pump wear and leakage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8368" y="3127248"/>
            <a:ext cx="548640" cy="54864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6440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31089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differentials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1371600" y="34381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 = p̄ₐ − p̄ᵦ for all 15 pairs of PS1–PS6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Valve lag, internal leakage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45152" y="292608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46320" y="3127248"/>
            <a:ext cx="548640" cy="54864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6440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559552" y="31089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conductance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5559552" y="34381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/ |ΔT|  and  CP / CE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559552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Cooler degradation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leaking pump draws the same power but delivers less flow, so efficiency drops even when each raw signal looks normal.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43,680 to 40: cleaning and selection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model shown; every learned step is fitted inside the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43,680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05740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56232" y="13258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56232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929384" y="205740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072384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55264" y="13258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328416" y="205740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54296" y="13258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54296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205740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 0.95 removed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53328" y="13258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53328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05740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top 50 %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52360" y="13258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63247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205740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top 40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041648" cy="1417320"/>
          </a:xfrm>
          <a:prstGeom prst="roundRect">
            <a:avLst>
              <a:gd name="adj" fmla="val 5161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3401568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3515868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23444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cleaning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23444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constant, 4 near-zero-variance and 65 duplicate columns removed. No labels are used, so no target leakage.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645152" y="3200400"/>
            <a:ext cx="4041648" cy="1417320"/>
          </a:xfrm>
          <a:prstGeom prst="roundRect">
            <a:avLst>
              <a:gd name="adj" fmla="val 5161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46320" y="3401568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3515868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422392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pipeline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5422392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uses labels, so it runs inside one scikit-learn Pipeline and is re-fitted on every training fold.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feature engineering bought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cannot build features itself, so its gain is the representation's effect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16752" y="138988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+0.319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8836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macro-F1 (0.672 → 0.991)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52160" y="24231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16752" y="253288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+0.334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016752" y="30266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macro-F1 (0.642 → 0.977)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35661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16752" y="367588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0.529 → 0.989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016752" y="41696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on the valve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dashboard and 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96696"/>
            <a:ext cx="4864608" cy="2108539"/>
          </a:xfrm>
          <a:prstGeom prst="roundRect">
            <a:avLst>
              <a:gd name="adj" fmla="val 2602"/>
            </a:avLst>
          </a:prstGeom>
          <a:solidFill>
            <a:srgbClr val="152033"/>
          </a:solidFill>
          <a:ln w="9525">
            <a:solidFill>
              <a:srgbClr val="2A3754"/>
            </a:solidFill>
            <a:prstDash val="solid"/>
          </a:ln>
        </p:spPr>
      </p:sp>
      <p:pic>
        <p:nvPicPr>
          <p:cNvPr id="4" name="Image 0" descr="img/fe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51560"/>
            <a:ext cx="4754880" cy="19988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5468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per-component status, confidence and comparison with the recorded condition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23560" y="1051560"/>
            <a:ext cx="420624" cy="420624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115671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72200" y="1024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beats raw data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13075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 named features replace 43,680 raw values (70× smaller).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623560" y="2075688"/>
            <a:ext cx="420624" cy="420624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18084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7220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keeps accuracy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17220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selected features match the full 553 on every target.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623560" y="3099816"/>
            <a:ext cx="420624" cy="420624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16" y="3204972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172200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numbers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6172200" y="33558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CV: 0.995 / 0.984 / 0.968 / 0.916 - the accumulator is hardest.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B2940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8368" y="391363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features around each load step, validation on other machines, and run-to-failure data for Remaining Useful Life.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of Industrial Hydraulic Systems - Feature Engineering</dc:title>
  <dc:subject>PptxGenJS Presentation</dc:subject>
  <dc:creator>PptxGenJS</dc:creator>
  <cp:lastModifiedBy>PptxGenJS</cp:lastModifiedBy>
  <cp:revision>1</cp:revision>
  <dcterms:created xsi:type="dcterms:W3CDTF">2026-09-23T19:19:10Z</dcterms:created>
  <dcterms:modified xsi:type="dcterms:W3CDTF">2026-09-23T19:19:10Z</dcterms:modified>
</cp:coreProperties>
</file>